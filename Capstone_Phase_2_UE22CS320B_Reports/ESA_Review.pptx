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1"/>
  </p:notesMasterIdLst>
  <p:handoutMasterIdLst>
    <p:handoutMasterId r:id="rId32"/>
  </p:handoutMasterIdLst>
  <p:sldIdLst>
    <p:sldId id="538" r:id="rId2"/>
    <p:sldId id="535" r:id="rId3"/>
    <p:sldId id="587" r:id="rId4"/>
    <p:sldId id="569" r:id="rId5"/>
    <p:sldId id="585" r:id="rId6"/>
    <p:sldId id="568" r:id="rId7"/>
    <p:sldId id="604" r:id="rId8"/>
    <p:sldId id="607" r:id="rId9"/>
    <p:sldId id="567" r:id="rId10"/>
    <p:sldId id="609" r:id="rId11"/>
    <p:sldId id="610" r:id="rId12"/>
    <p:sldId id="611" r:id="rId13"/>
    <p:sldId id="612" r:id="rId14"/>
    <p:sldId id="603" r:id="rId15"/>
    <p:sldId id="564" r:id="rId16"/>
    <p:sldId id="580" r:id="rId17"/>
    <p:sldId id="608" r:id="rId18"/>
    <p:sldId id="594" r:id="rId19"/>
    <p:sldId id="595" r:id="rId20"/>
    <p:sldId id="545" r:id="rId21"/>
    <p:sldId id="583" r:id="rId22"/>
    <p:sldId id="596" r:id="rId23"/>
    <p:sldId id="597" r:id="rId24"/>
    <p:sldId id="598" r:id="rId25"/>
    <p:sldId id="599" r:id="rId26"/>
    <p:sldId id="613" r:id="rId27"/>
    <p:sldId id="584" r:id="rId28"/>
    <p:sldId id="581" r:id="rId29"/>
    <p:sldId id="582" r:id="rId30"/>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FF33CC"/>
    <a:srgbClr val="FF0066"/>
    <a:srgbClr val="33CC33"/>
    <a:srgbClr val="00FFFF"/>
    <a:srgbClr val="6600FF"/>
    <a:srgbClr val="CC66FF"/>
    <a:srgbClr val="62832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91" d="100"/>
          <a:sy n="91" d="100"/>
        </p:scale>
        <p:origin x="360" y="77"/>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ya mishra" userId="a4e049825699fe7b" providerId="LiveId" clId="{12B3837A-280F-4641-894F-3CA87DDE9379}"/>
    <pc:docChg chg="undo custSel addSld delSld modSld">
      <pc:chgData name="soumya mishra" userId="a4e049825699fe7b" providerId="LiveId" clId="{12B3837A-280F-4641-894F-3CA87DDE9379}" dt="2025-05-05T17:57:05.079" v="2895" actId="207"/>
      <pc:docMkLst>
        <pc:docMk/>
      </pc:docMkLst>
      <pc:sldChg chg="addSp delSp modSp mod">
        <pc:chgData name="soumya mishra" userId="a4e049825699fe7b" providerId="LiveId" clId="{12B3837A-280F-4641-894F-3CA87DDE9379}" dt="2025-04-24T17:30:46.791" v="1223" actId="1076"/>
        <pc:sldMkLst>
          <pc:docMk/>
          <pc:sldMk cId="0" sldId="567"/>
        </pc:sldMkLst>
        <pc:picChg chg="add mod">
          <ac:chgData name="soumya mishra" userId="a4e049825699fe7b" providerId="LiveId" clId="{12B3837A-280F-4641-894F-3CA87DDE9379}" dt="2025-04-24T17:30:46.791" v="1223" actId="1076"/>
          <ac:picMkLst>
            <pc:docMk/>
            <pc:sldMk cId="0" sldId="567"/>
            <ac:picMk id="3" creationId="{EF30DF36-D777-5602-4B26-2E1FC6490231}"/>
          </ac:picMkLst>
        </pc:picChg>
      </pc:sldChg>
      <pc:sldChg chg="modSp mod">
        <pc:chgData name="soumya mishra" userId="a4e049825699fe7b" providerId="LiveId" clId="{12B3837A-280F-4641-894F-3CA87DDE9379}" dt="2025-04-24T16:13:15.784" v="201" actId="1076"/>
        <pc:sldMkLst>
          <pc:docMk/>
          <pc:sldMk cId="4205369299" sldId="568"/>
        </pc:sldMkLst>
        <pc:spChg chg="mod">
          <ac:chgData name="soumya mishra" userId="a4e049825699fe7b" providerId="LiveId" clId="{12B3837A-280F-4641-894F-3CA87DDE9379}" dt="2025-04-24T16:13:15.784" v="201" actId="1076"/>
          <ac:spMkLst>
            <pc:docMk/>
            <pc:sldMk cId="4205369299" sldId="568"/>
            <ac:spMk id="10" creationId="{00000000-0000-0000-0000-000000000000}"/>
          </ac:spMkLst>
        </pc:spChg>
      </pc:sldChg>
      <pc:sldChg chg="modSp mod">
        <pc:chgData name="soumya mishra" userId="a4e049825699fe7b" providerId="LiveId" clId="{12B3837A-280F-4641-894F-3CA87DDE9379}" dt="2025-04-25T02:53:47.214" v="2341" actId="113"/>
        <pc:sldMkLst>
          <pc:docMk/>
          <pc:sldMk cId="3811030131" sldId="569"/>
        </pc:sldMkLst>
        <pc:spChg chg="mod">
          <ac:chgData name="soumya mishra" userId="a4e049825699fe7b" providerId="LiveId" clId="{12B3837A-280F-4641-894F-3CA87DDE9379}" dt="2025-04-25T02:53:47.214" v="2341" actId="113"/>
          <ac:spMkLst>
            <pc:docMk/>
            <pc:sldMk cId="3811030131" sldId="569"/>
            <ac:spMk id="3" creationId="{10E5E6A6-ACB1-272C-AE32-A1FE07D926D9}"/>
          </ac:spMkLst>
        </pc:spChg>
      </pc:sldChg>
      <pc:sldChg chg="modSp mod">
        <pc:chgData name="soumya mishra" userId="a4e049825699fe7b" providerId="LiveId" clId="{12B3837A-280F-4641-894F-3CA87DDE9379}" dt="2025-04-24T05:54:02.455" v="111" actId="1076"/>
        <pc:sldMkLst>
          <pc:docMk/>
          <pc:sldMk cId="3167076299" sldId="571"/>
        </pc:sldMkLst>
      </pc:sldChg>
      <pc:sldChg chg="addSp delSp modSp mod">
        <pc:chgData name="soumya mishra" userId="a4e049825699fe7b" providerId="LiveId" clId="{12B3837A-280F-4641-894F-3CA87DDE9379}" dt="2025-04-24T17:22:04.704" v="1056" actId="12"/>
        <pc:sldMkLst>
          <pc:docMk/>
          <pc:sldMk cId="0" sldId="580"/>
        </pc:sldMkLst>
        <pc:spChg chg="mod">
          <ac:chgData name="soumya mishra" userId="a4e049825699fe7b" providerId="LiveId" clId="{12B3837A-280F-4641-894F-3CA87DDE9379}" dt="2025-04-24T17:07:36.821" v="823" actId="20577"/>
          <ac:spMkLst>
            <pc:docMk/>
            <pc:sldMk cId="0" sldId="580"/>
            <ac:spMk id="6" creationId="{00000000-0000-0000-0000-000000000000}"/>
          </ac:spMkLst>
        </pc:spChg>
        <pc:spChg chg="add mod">
          <ac:chgData name="soumya mishra" userId="a4e049825699fe7b" providerId="LiveId" clId="{12B3837A-280F-4641-894F-3CA87DDE9379}" dt="2025-04-24T17:22:04.704" v="1056" actId="12"/>
          <ac:spMkLst>
            <pc:docMk/>
            <pc:sldMk cId="0" sldId="580"/>
            <ac:spMk id="9" creationId="{1AB18D23-7C2D-C62B-0ACE-A4C33B255CE1}"/>
          </ac:spMkLst>
        </pc:spChg>
      </pc:sldChg>
      <pc:sldChg chg="modSp mod">
        <pc:chgData name="soumya mishra" userId="a4e049825699fe7b" providerId="LiveId" clId="{12B3837A-280F-4641-894F-3CA87DDE9379}" dt="2025-04-24T18:01:02.163" v="1591" actId="20577"/>
        <pc:sldMkLst>
          <pc:docMk/>
          <pc:sldMk cId="1494727194" sldId="581"/>
        </pc:sldMkLst>
        <pc:spChg chg="mod">
          <ac:chgData name="soumya mishra" userId="a4e049825699fe7b" providerId="LiveId" clId="{12B3837A-280F-4641-894F-3CA87DDE9379}" dt="2025-04-24T17:57:23.846" v="1570" actId="1076"/>
          <ac:spMkLst>
            <pc:docMk/>
            <pc:sldMk cId="1494727194" sldId="581"/>
            <ac:spMk id="5" creationId="{00000000-0000-0000-0000-000000000000}"/>
          </ac:spMkLst>
        </pc:spChg>
        <pc:spChg chg="mod">
          <ac:chgData name="soumya mishra" userId="a4e049825699fe7b" providerId="LiveId" clId="{12B3837A-280F-4641-894F-3CA87DDE9379}" dt="2025-04-24T18:01:02.163" v="1591" actId="20577"/>
          <ac:spMkLst>
            <pc:docMk/>
            <pc:sldMk cId="1494727194" sldId="581"/>
            <ac:spMk id="6" creationId="{00000000-0000-0000-0000-000000000000}"/>
          </ac:spMkLst>
        </pc:spChg>
        <pc:spChg chg="mod">
          <ac:chgData name="soumya mishra" userId="a4e049825699fe7b" providerId="LiveId" clId="{12B3837A-280F-4641-894F-3CA87DDE9379}" dt="2025-04-24T17:57:21.375" v="1569" actId="14100"/>
          <ac:spMkLst>
            <pc:docMk/>
            <pc:sldMk cId="1494727194" sldId="581"/>
            <ac:spMk id="13" creationId="{00000000-0000-0000-0000-000000000000}"/>
          </ac:spMkLst>
        </pc:spChg>
      </pc:sldChg>
      <pc:sldChg chg="modSp mod">
        <pc:chgData name="soumya mishra" userId="a4e049825699fe7b" providerId="LiveId" clId="{12B3837A-280F-4641-894F-3CA87DDE9379}" dt="2025-04-24T18:01:36.786" v="1604" actId="1076"/>
        <pc:sldMkLst>
          <pc:docMk/>
          <pc:sldMk cId="0" sldId="582"/>
        </pc:sldMkLst>
        <pc:spChg chg="mod">
          <ac:chgData name="soumya mishra" userId="a4e049825699fe7b" providerId="LiveId" clId="{12B3837A-280F-4641-894F-3CA87DDE9379}" dt="2025-04-24T18:01:36.786" v="1604" actId="1076"/>
          <ac:spMkLst>
            <pc:docMk/>
            <pc:sldMk cId="0" sldId="582"/>
            <ac:spMk id="4" creationId="{00000000-0000-0000-0000-000000000000}"/>
          </ac:spMkLst>
        </pc:spChg>
      </pc:sldChg>
      <pc:sldChg chg="modSp mod">
        <pc:chgData name="soumya mishra" userId="a4e049825699fe7b" providerId="LiveId" clId="{12B3837A-280F-4641-894F-3CA87DDE9379}" dt="2025-04-24T05:36:22.378" v="15" actId="1076"/>
        <pc:sldMkLst>
          <pc:docMk/>
          <pc:sldMk cId="786535098" sldId="584"/>
        </pc:sldMkLst>
        <pc:spChg chg="mod">
          <ac:chgData name="soumya mishra" userId="a4e049825699fe7b" providerId="LiveId" clId="{12B3837A-280F-4641-894F-3CA87DDE9379}" dt="2025-04-24T05:35:44.699" v="7" actId="1076"/>
          <ac:spMkLst>
            <pc:docMk/>
            <pc:sldMk cId="786535098" sldId="584"/>
            <ac:spMk id="2" creationId="{00000000-0000-0000-0000-000000000000}"/>
          </ac:spMkLst>
        </pc:spChg>
        <pc:spChg chg="mod">
          <ac:chgData name="soumya mishra" userId="a4e049825699fe7b" providerId="LiveId" clId="{12B3837A-280F-4641-894F-3CA87DDE9379}" dt="2025-04-24T05:35:39.986" v="6" actId="1076"/>
          <ac:spMkLst>
            <pc:docMk/>
            <pc:sldMk cId="786535098" sldId="584"/>
            <ac:spMk id="3" creationId="{00000000-0000-0000-0000-000000000000}"/>
          </ac:spMkLst>
        </pc:spChg>
        <pc:spChg chg="mod">
          <ac:chgData name="soumya mishra" userId="a4e049825699fe7b" providerId="LiveId" clId="{12B3837A-280F-4641-894F-3CA87DDE9379}" dt="2025-04-24T05:36:22.378" v="15" actId="1076"/>
          <ac:spMkLst>
            <pc:docMk/>
            <pc:sldMk cId="786535098" sldId="584"/>
            <ac:spMk id="5" creationId="{EBB10B19-4157-41B3-85CA-452455B519DD}"/>
          </ac:spMkLst>
        </pc:spChg>
      </pc:sldChg>
      <pc:sldChg chg="modSp mod">
        <pc:chgData name="soumya mishra" userId="a4e049825699fe7b" providerId="LiveId" clId="{12B3837A-280F-4641-894F-3CA87DDE9379}" dt="2025-04-24T17:51:56.576" v="1545" actId="1076"/>
        <pc:sldMkLst>
          <pc:docMk/>
          <pc:sldMk cId="3588208449" sldId="585"/>
        </pc:sldMkLst>
        <pc:spChg chg="mod">
          <ac:chgData name="soumya mishra" userId="a4e049825699fe7b" providerId="LiveId" clId="{12B3837A-280F-4641-894F-3CA87DDE9379}" dt="2025-04-24T17:51:56.576" v="1545" actId="1076"/>
          <ac:spMkLst>
            <pc:docMk/>
            <pc:sldMk cId="3588208449" sldId="585"/>
            <ac:spMk id="10" creationId="{C7ECCC90-D7BA-7AB7-1609-4B507E9631E5}"/>
          </ac:spMkLst>
        </pc:spChg>
      </pc:sldChg>
      <pc:sldChg chg="del">
        <pc:chgData name="soumya mishra" userId="a4e049825699fe7b" providerId="LiveId" clId="{12B3837A-280F-4641-894F-3CA87DDE9379}" dt="2025-04-24T17:28:32.526" v="1212" actId="2696"/>
        <pc:sldMkLst>
          <pc:docMk/>
          <pc:sldMk cId="4174743484" sldId="586"/>
        </pc:sldMkLst>
      </pc:sldChg>
      <pc:sldChg chg="del">
        <pc:chgData name="soumya mishra" userId="a4e049825699fe7b" providerId="LiveId" clId="{12B3837A-280F-4641-894F-3CA87DDE9379}" dt="2025-04-24T17:28:19.174" v="1209" actId="2696"/>
        <pc:sldMkLst>
          <pc:docMk/>
          <pc:sldMk cId="930635650" sldId="588"/>
        </pc:sldMkLst>
      </pc:sldChg>
      <pc:sldChg chg="modSp del mod">
        <pc:chgData name="soumya mishra" userId="a4e049825699fe7b" providerId="LiveId" clId="{12B3837A-280F-4641-894F-3CA87DDE9379}" dt="2025-04-24T17:28:24.253" v="1210" actId="2696"/>
        <pc:sldMkLst>
          <pc:docMk/>
          <pc:sldMk cId="836950918" sldId="589"/>
        </pc:sldMkLst>
      </pc:sldChg>
      <pc:sldChg chg="del">
        <pc:chgData name="soumya mishra" userId="a4e049825699fe7b" providerId="LiveId" clId="{12B3837A-280F-4641-894F-3CA87DDE9379}" dt="2025-04-24T17:28:28.823" v="1211" actId="2696"/>
        <pc:sldMkLst>
          <pc:docMk/>
          <pc:sldMk cId="3137475160" sldId="590"/>
        </pc:sldMkLst>
      </pc:sldChg>
      <pc:sldChg chg="del">
        <pc:chgData name="soumya mishra" userId="a4e049825699fe7b" providerId="LiveId" clId="{12B3837A-280F-4641-894F-3CA87DDE9379}" dt="2025-04-24T17:28:35.077" v="1213" actId="2696"/>
        <pc:sldMkLst>
          <pc:docMk/>
          <pc:sldMk cId="3362582464" sldId="591"/>
        </pc:sldMkLst>
      </pc:sldChg>
      <pc:sldChg chg="add del">
        <pc:chgData name="soumya mishra" userId="a4e049825699fe7b" providerId="LiveId" clId="{12B3837A-280F-4641-894F-3CA87DDE9379}" dt="2025-04-24T17:29:10.370" v="1216" actId="2696"/>
        <pc:sldMkLst>
          <pc:docMk/>
          <pc:sldMk cId="3167408650" sldId="592"/>
        </pc:sldMkLst>
      </pc:sldChg>
      <pc:sldChg chg="del">
        <pc:chgData name="soumya mishra" userId="a4e049825699fe7b" providerId="LiveId" clId="{12B3837A-280F-4641-894F-3CA87DDE9379}" dt="2025-04-24T17:29:13.401" v="1217" actId="2696"/>
        <pc:sldMkLst>
          <pc:docMk/>
          <pc:sldMk cId="3912623464" sldId="593"/>
        </pc:sldMkLst>
      </pc:sldChg>
      <pc:sldChg chg="modSp mod">
        <pc:chgData name="soumya mishra" userId="a4e049825699fe7b" providerId="LiveId" clId="{12B3837A-280F-4641-894F-3CA87DDE9379}" dt="2025-05-05T17:57:05.079" v="2895" actId="207"/>
        <pc:sldMkLst>
          <pc:docMk/>
          <pc:sldMk cId="2726873359" sldId="598"/>
        </pc:sldMkLst>
        <pc:spChg chg="mod">
          <ac:chgData name="soumya mishra" userId="a4e049825699fe7b" providerId="LiveId" clId="{12B3837A-280F-4641-894F-3CA87DDE9379}" dt="2025-05-05T17:55:33.418" v="2885" actId="14100"/>
          <ac:spMkLst>
            <pc:docMk/>
            <pc:sldMk cId="2726873359" sldId="598"/>
            <ac:spMk id="3" creationId="{E6EB4EB1-523B-BD65-96D4-B2BF652BC9C7}"/>
          </ac:spMkLst>
        </pc:spChg>
        <pc:spChg chg="mod">
          <ac:chgData name="soumya mishra" userId="a4e049825699fe7b" providerId="LiveId" clId="{12B3837A-280F-4641-894F-3CA87DDE9379}" dt="2025-05-05T17:57:05.079" v="2895" actId="207"/>
          <ac:spMkLst>
            <pc:docMk/>
            <pc:sldMk cId="2726873359" sldId="598"/>
            <ac:spMk id="6" creationId="{F60343AE-6207-9820-6B9D-6876293743A4}"/>
          </ac:spMkLst>
        </pc:spChg>
      </pc:sldChg>
      <pc:sldChg chg="addSp delSp modSp mod">
        <pc:chgData name="soumya mishra" userId="a4e049825699fe7b" providerId="LiveId" clId="{12B3837A-280F-4641-894F-3CA87DDE9379}" dt="2025-04-24T16:27:28.514" v="709" actId="1076"/>
        <pc:sldMkLst>
          <pc:docMk/>
          <pc:sldMk cId="4168022551" sldId="599"/>
        </pc:sldMkLst>
        <pc:graphicFrameChg chg="add mod modGraphic">
          <ac:chgData name="soumya mishra" userId="a4e049825699fe7b" providerId="LiveId" clId="{12B3837A-280F-4641-894F-3CA87DDE9379}" dt="2025-04-24T16:27:28.514" v="709" actId="1076"/>
          <ac:graphicFrameMkLst>
            <pc:docMk/>
            <pc:sldMk cId="4168022551" sldId="599"/>
            <ac:graphicFrameMk id="5" creationId="{E6CCF08A-D47A-FBFA-885D-47284AD545C7}"/>
          </ac:graphicFrameMkLst>
        </pc:graphicFrameChg>
      </pc:sldChg>
      <pc:sldChg chg="del">
        <pc:chgData name="soumya mishra" userId="a4e049825699fe7b" providerId="LiveId" clId="{12B3837A-280F-4641-894F-3CA87DDE9379}" dt="2025-04-24T16:28:07.568" v="710" actId="2696"/>
        <pc:sldMkLst>
          <pc:docMk/>
          <pc:sldMk cId="1331553309" sldId="600"/>
        </pc:sldMkLst>
      </pc:sldChg>
      <pc:sldChg chg="del">
        <pc:chgData name="soumya mishra" userId="a4e049825699fe7b" providerId="LiveId" clId="{12B3837A-280F-4641-894F-3CA87DDE9379}" dt="2025-04-24T16:28:10.310" v="711" actId="2696"/>
        <pc:sldMkLst>
          <pc:docMk/>
          <pc:sldMk cId="154059451" sldId="601"/>
        </pc:sldMkLst>
      </pc:sldChg>
      <pc:sldChg chg="del">
        <pc:chgData name="soumya mishra" userId="a4e049825699fe7b" providerId="LiveId" clId="{12B3837A-280F-4641-894F-3CA87DDE9379}" dt="2025-04-24T16:28:13.731" v="712" actId="2696"/>
        <pc:sldMkLst>
          <pc:docMk/>
          <pc:sldMk cId="614409949" sldId="602"/>
        </pc:sldMkLst>
      </pc:sldChg>
      <pc:sldChg chg="addSp delSp modSp mod">
        <pc:chgData name="soumya mishra" userId="a4e049825699fe7b" providerId="LiveId" clId="{12B3837A-280F-4641-894F-3CA87DDE9379}" dt="2025-04-25T02:32:01.613" v="2220" actId="14100"/>
        <pc:sldMkLst>
          <pc:docMk/>
          <pc:sldMk cId="4006949552" sldId="603"/>
        </pc:sldMkLst>
        <pc:picChg chg="add del mod">
          <ac:chgData name="soumya mishra" userId="a4e049825699fe7b" providerId="LiveId" clId="{12B3837A-280F-4641-894F-3CA87DDE9379}" dt="2025-04-25T02:32:01.613" v="2220" actId="14100"/>
          <ac:picMkLst>
            <pc:docMk/>
            <pc:sldMk cId="4006949552" sldId="603"/>
            <ac:picMk id="8" creationId="{4FCABB84-43D4-9CD2-26DD-21D942C6FE7E}"/>
          </ac:picMkLst>
        </pc:picChg>
      </pc:sldChg>
      <pc:sldChg chg="addSp modSp new mod">
        <pc:chgData name="soumya mishra" userId="a4e049825699fe7b" providerId="LiveId" clId="{12B3837A-280F-4641-894F-3CA87DDE9379}" dt="2025-04-25T02:47:19.138" v="2287" actId="114"/>
        <pc:sldMkLst>
          <pc:docMk/>
          <pc:sldMk cId="3809970542" sldId="604"/>
        </pc:sldMkLst>
        <pc:spChg chg="add mod">
          <ac:chgData name="soumya mishra" userId="a4e049825699fe7b" providerId="LiveId" clId="{12B3837A-280F-4641-894F-3CA87DDE9379}" dt="2025-04-25T02:22:24.533" v="1877" actId="1076"/>
          <ac:spMkLst>
            <pc:docMk/>
            <pc:sldMk cId="3809970542" sldId="604"/>
            <ac:spMk id="3" creationId="{33B4CED6-A3AB-BB97-5642-47283CE93EA4}"/>
          </ac:spMkLst>
        </pc:spChg>
        <pc:spChg chg="add mod">
          <ac:chgData name="soumya mishra" userId="a4e049825699fe7b" providerId="LiveId" clId="{12B3837A-280F-4641-894F-3CA87DDE9379}" dt="2025-04-25T02:22:31.513" v="1879" actId="1076"/>
          <ac:spMkLst>
            <pc:docMk/>
            <pc:sldMk cId="3809970542" sldId="604"/>
            <ac:spMk id="4" creationId="{545C8CE2-0043-AF84-1D71-C33867C3725F}"/>
          </ac:spMkLst>
        </pc:spChg>
        <pc:spChg chg="add mod">
          <ac:chgData name="soumya mishra" userId="a4e049825699fe7b" providerId="LiveId" clId="{12B3837A-280F-4641-894F-3CA87DDE9379}" dt="2025-04-25T02:47:19.138" v="2287" actId="114"/>
          <ac:spMkLst>
            <pc:docMk/>
            <pc:sldMk cId="3809970542" sldId="604"/>
            <ac:spMk id="6" creationId="{BD8D68C0-F6A0-1835-8789-47DA88E18C48}"/>
          </ac:spMkLst>
        </pc:spChg>
      </pc:sldChg>
      <pc:sldChg chg="addSp modSp new del mod">
        <pc:chgData name="soumya mishra" userId="a4e049825699fe7b" providerId="LiveId" clId="{12B3837A-280F-4641-894F-3CA87DDE9379}" dt="2025-04-24T16:41:27.332" v="721" actId="2696"/>
        <pc:sldMkLst>
          <pc:docMk/>
          <pc:sldMk cId="3154857018" sldId="605"/>
        </pc:sldMkLst>
      </pc:sldChg>
      <pc:sldChg chg="addSp modSp new del mod">
        <pc:chgData name="soumya mishra" userId="a4e049825699fe7b" providerId="LiveId" clId="{12B3837A-280F-4641-894F-3CA87DDE9379}" dt="2025-04-24T16:41:33.088" v="722" actId="2696"/>
        <pc:sldMkLst>
          <pc:docMk/>
          <pc:sldMk cId="3300859935" sldId="606"/>
        </pc:sldMkLst>
      </pc:sldChg>
      <pc:sldChg chg="addSp delSp modSp mod">
        <pc:chgData name="soumya mishra" userId="a4e049825699fe7b" providerId="LiveId" clId="{12B3837A-280F-4641-894F-3CA87DDE9379}" dt="2025-04-25T02:52:58.733" v="2337" actId="114"/>
        <pc:sldMkLst>
          <pc:docMk/>
          <pc:sldMk cId="4050224260" sldId="607"/>
        </pc:sldMkLst>
        <pc:spChg chg="add mod">
          <ac:chgData name="soumya mishra" userId="a4e049825699fe7b" providerId="LiveId" clId="{12B3837A-280F-4641-894F-3CA87DDE9379}" dt="2025-04-25T02:52:58.733" v="2337" actId="114"/>
          <ac:spMkLst>
            <pc:docMk/>
            <pc:sldMk cId="4050224260" sldId="607"/>
            <ac:spMk id="2" creationId="{0C7E5E4C-A26E-6F6D-7957-A5BDBDDA38D1}"/>
          </ac:spMkLst>
        </pc:spChg>
        <pc:spChg chg="mod">
          <ac:chgData name="soumya mishra" userId="a4e049825699fe7b" providerId="LiveId" clId="{12B3837A-280F-4641-894F-3CA87DDE9379}" dt="2025-04-24T16:42:12.694" v="755" actId="20577"/>
          <ac:spMkLst>
            <pc:docMk/>
            <pc:sldMk cId="4050224260" sldId="607"/>
            <ac:spMk id="3" creationId="{C38372F8-47E7-0403-493A-DBBCD9018C07}"/>
          </ac:spMkLst>
        </pc:spChg>
        <pc:spChg chg="mod">
          <ac:chgData name="soumya mishra" userId="a4e049825699fe7b" providerId="LiveId" clId="{12B3837A-280F-4641-894F-3CA87DDE9379}" dt="2025-04-24T16:42:38.120" v="758" actId="14100"/>
          <ac:spMkLst>
            <pc:docMk/>
            <pc:sldMk cId="4050224260" sldId="607"/>
            <ac:spMk id="4" creationId="{C085F393-65A0-5801-16BD-C88971DA1AAF}"/>
          </ac:spMkLst>
        </pc:spChg>
      </pc:sldChg>
      <pc:sldChg chg="addSp modSp new mod">
        <pc:chgData name="soumya mishra" userId="a4e049825699fe7b" providerId="LiveId" clId="{12B3837A-280F-4641-894F-3CA87DDE9379}" dt="2025-04-24T17:28:02.347" v="1208" actId="1076"/>
        <pc:sldMkLst>
          <pc:docMk/>
          <pc:sldMk cId="2286092464" sldId="608"/>
        </pc:sldMkLst>
        <pc:spChg chg="add mod">
          <ac:chgData name="soumya mishra" userId="a4e049825699fe7b" providerId="LiveId" clId="{12B3837A-280F-4641-894F-3CA87DDE9379}" dt="2025-04-24T17:23:46.523" v="1100" actId="1076"/>
          <ac:spMkLst>
            <pc:docMk/>
            <pc:sldMk cId="2286092464" sldId="608"/>
            <ac:spMk id="3" creationId="{E8A10C88-A459-C137-98C2-9B308D1516BC}"/>
          </ac:spMkLst>
        </pc:spChg>
        <pc:spChg chg="add mod">
          <ac:chgData name="soumya mishra" userId="a4e049825699fe7b" providerId="LiveId" clId="{12B3837A-280F-4641-894F-3CA87DDE9379}" dt="2025-04-24T17:23:40.515" v="1098" actId="1076"/>
          <ac:spMkLst>
            <pc:docMk/>
            <pc:sldMk cId="2286092464" sldId="608"/>
            <ac:spMk id="4" creationId="{C7A114EB-B1B9-8D04-2F2B-14AAA2C576EB}"/>
          </ac:spMkLst>
        </pc:spChg>
        <pc:spChg chg="add mod">
          <ac:chgData name="soumya mishra" userId="a4e049825699fe7b" providerId="LiveId" clId="{12B3837A-280F-4641-894F-3CA87DDE9379}" dt="2025-04-24T17:28:02.347" v="1208" actId="1076"/>
          <ac:spMkLst>
            <pc:docMk/>
            <pc:sldMk cId="2286092464" sldId="608"/>
            <ac:spMk id="6" creationId="{A40000D7-0F8A-AFD8-DD64-7ABBF4C09DAA}"/>
          </ac:spMkLst>
        </pc:spChg>
      </pc:sldChg>
      <pc:sldChg chg="modSp del mod">
        <pc:chgData name="soumya mishra" userId="a4e049825699fe7b" providerId="LiveId" clId="{12B3837A-280F-4641-894F-3CA87DDE9379}" dt="2025-04-24T16:53:53.969" v="817" actId="2696"/>
        <pc:sldMkLst>
          <pc:docMk/>
          <pc:sldMk cId="3283571480" sldId="608"/>
        </pc:sldMkLst>
      </pc:sldChg>
      <pc:sldChg chg="del">
        <pc:chgData name="soumya mishra" userId="a4e049825699fe7b" providerId="LiveId" clId="{12B3837A-280F-4641-894F-3CA87DDE9379}" dt="2025-04-24T16:54:06.142" v="818" actId="2696"/>
        <pc:sldMkLst>
          <pc:docMk/>
          <pc:sldMk cId="1335328031" sldId="609"/>
        </pc:sldMkLst>
      </pc:sldChg>
      <pc:sldChg chg="addSp modSp new mod">
        <pc:chgData name="soumya mishra" userId="a4e049825699fe7b" providerId="LiveId" clId="{12B3837A-280F-4641-894F-3CA87DDE9379}" dt="2025-04-24T17:43:18.972" v="1312" actId="113"/>
        <pc:sldMkLst>
          <pc:docMk/>
          <pc:sldMk cId="1965992490" sldId="609"/>
        </pc:sldMkLst>
        <pc:spChg chg="add mod">
          <ac:chgData name="soumya mishra" userId="a4e049825699fe7b" providerId="LiveId" clId="{12B3837A-280F-4641-894F-3CA87DDE9379}" dt="2025-04-24T17:34:19.238" v="1244" actId="14100"/>
          <ac:spMkLst>
            <pc:docMk/>
            <pc:sldMk cId="1965992490" sldId="609"/>
            <ac:spMk id="4" creationId="{05358457-654D-2352-1F48-B31997331260}"/>
          </ac:spMkLst>
        </pc:spChg>
        <pc:spChg chg="add mod">
          <ac:chgData name="soumya mishra" userId="a4e049825699fe7b" providerId="LiveId" clId="{12B3837A-280F-4641-894F-3CA87DDE9379}" dt="2025-04-24T17:43:17.145" v="1311" actId="113"/>
          <ac:spMkLst>
            <pc:docMk/>
            <pc:sldMk cId="1965992490" sldId="609"/>
            <ac:spMk id="7" creationId="{E987538E-3A05-5D17-5316-E6A8F90B544F}"/>
          </ac:spMkLst>
        </pc:spChg>
        <pc:spChg chg="add mod">
          <ac:chgData name="soumya mishra" userId="a4e049825699fe7b" providerId="LiveId" clId="{12B3837A-280F-4641-894F-3CA87DDE9379}" dt="2025-04-24T17:43:18.972" v="1312" actId="113"/>
          <ac:spMkLst>
            <pc:docMk/>
            <pc:sldMk cId="1965992490" sldId="609"/>
            <ac:spMk id="9" creationId="{B1BB4A06-1D4E-8690-25A1-BDCB90946AC7}"/>
          </ac:spMkLst>
        </pc:spChg>
        <pc:picChg chg="add mod">
          <ac:chgData name="soumya mishra" userId="a4e049825699fe7b" providerId="LiveId" clId="{12B3837A-280F-4641-894F-3CA87DDE9379}" dt="2025-04-24T17:34:33.763" v="1247" actId="1076"/>
          <ac:picMkLst>
            <pc:docMk/>
            <pc:sldMk cId="1965992490" sldId="609"/>
            <ac:picMk id="3" creationId="{2B06E5AC-E1A4-F499-7FFD-E9EAF92BAC8E}"/>
          </ac:picMkLst>
        </pc:picChg>
        <pc:picChg chg="add mod">
          <ac:chgData name="soumya mishra" userId="a4e049825699fe7b" providerId="LiveId" clId="{12B3837A-280F-4641-894F-3CA87DDE9379}" dt="2025-04-24T17:34:28.348" v="1246" actId="14100"/>
          <ac:picMkLst>
            <pc:docMk/>
            <pc:sldMk cId="1965992490" sldId="609"/>
            <ac:picMk id="6" creationId="{7FA2C8DE-9316-F276-395B-54E7B1F6E1EA}"/>
          </ac:picMkLst>
        </pc:picChg>
      </pc:sldChg>
      <pc:sldChg chg="addSp modSp new mod">
        <pc:chgData name="soumya mishra" userId="a4e049825699fe7b" providerId="LiveId" clId="{12B3837A-280F-4641-894F-3CA87DDE9379}" dt="2025-04-24T17:43:12.174" v="1310" actId="113"/>
        <pc:sldMkLst>
          <pc:docMk/>
          <pc:sldMk cId="4045372" sldId="610"/>
        </pc:sldMkLst>
        <pc:spChg chg="add mod">
          <ac:chgData name="soumya mishra" userId="a4e049825699fe7b" providerId="LiveId" clId="{12B3837A-280F-4641-894F-3CA87DDE9379}" dt="2025-04-24T17:37:10.375" v="1263"/>
          <ac:spMkLst>
            <pc:docMk/>
            <pc:sldMk cId="4045372" sldId="610"/>
            <ac:spMk id="2" creationId="{2CEEF0DD-E989-B497-3894-151D48FA35E8}"/>
          </ac:spMkLst>
        </pc:spChg>
        <pc:spChg chg="add mod">
          <ac:chgData name="soumya mishra" userId="a4e049825699fe7b" providerId="LiveId" clId="{12B3837A-280F-4641-894F-3CA87DDE9379}" dt="2025-04-24T17:43:12.174" v="1310" actId="113"/>
          <ac:spMkLst>
            <pc:docMk/>
            <pc:sldMk cId="4045372" sldId="610"/>
            <ac:spMk id="8" creationId="{C982195A-494F-BD7C-04A8-35324CF6890D}"/>
          </ac:spMkLst>
        </pc:spChg>
        <pc:spChg chg="add mod">
          <ac:chgData name="soumya mishra" userId="a4e049825699fe7b" providerId="LiveId" clId="{12B3837A-280F-4641-894F-3CA87DDE9379}" dt="2025-04-24T17:43:09.983" v="1309" actId="113"/>
          <ac:spMkLst>
            <pc:docMk/>
            <pc:sldMk cId="4045372" sldId="610"/>
            <ac:spMk id="10" creationId="{1E2BD0CE-CF31-803E-8BC4-EFBE56B91A5D}"/>
          </ac:spMkLst>
        </pc:spChg>
        <pc:picChg chg="add mod">
          <ac:chgData name="soumya mishra" userId="a4e049825699fe7b" providerId="LiveId" clId="{12B3837A-280F-4641-894F-3CA87DDE9379}" dt="2025-04-24T17:37:38.451" v="1268" actId="14100"/>
          <ac:picMkLst>
            <pc:docMk/>
            <pc:sldMk cId="4045372" sldId="610"/>
            <ac:picMk id="4" creationId="{9888F32A-AE27-04D6-DDE5-16EF3AE855A0}"/>
          </ac:picMkLst>
        </pc:picChg>
        <pc:picChg chg="add mod">
          <ac:chgData name="soumya mishra" userId="a4e049825699fe7b" providerId="LiveId" clId="{12B3837A-280F-4641-894F-3CA87DDE9379}" dt="2025-04-24T17:38:10.064" v="1275" actId="14100"/>
          <ac:picMkLst>
            <pc:docMk/>
            <pc:sldMk cId="4045372" sldId="610"/>
            <ac:picMk id="6" creationId="{0FF424EB-EE73-CBC5-E25C-739E941091BE}"/>
          </ac:picMkLst>
        </pc:picChg>
      </pc:sldChg>
      <pc:sldChg chg="addSp modSp new mod">
        <pc:chgData name="soumya mishra" userId="a4e049825699fe7b" providerId="LiveId" clId="{12B3837A-280F-4641-894F-3CA87DDE9379}" dt="2025-04-24T17:43:03.304" v="1308" actId="14100"/>
        <pc:sldMkLst>
          <pc:docMk/>
          <pc:sldMk cId="1912273701" sldId="611"/>
        </pc:sldMkLst>
        <pc:spChg chg="add mod">
          <ac:chgData name="soumya mishra" userId="a4e049825699fe7b" providerId="LiveId" clId="{12B3837A-280F-4641-894F-3CA87DDE9379}" dt="2025-04-24T17:40:45.471" v="1285"/>
          <ac:spMkLst>
            <pc:docMk/>
            <pc:sldMk cId="1912273701" sldId="611"/>
            <ac:spMk id="2" creationId="{E69F0DE5-379E-2456-13EA-40C52FC25C77}"/>
          </ac:spMkLst>
        </pc:spChg>
        <pc:spChg chg="add mod">
          <ac:chgData name="soumya mishra" userId="a4e049825699fe7b" providerId="LiveId" clId="{12B3837A-280F-4641-894F-3CA87DDE9379}" dt="2025-04-24T17:42:12.463" v="1300" actId="1076"/>
          <ac:spMkLst>
            <pc:docMk/>
            <pc:sldMk cId="1912273701" sldId="611"/>
            <ac:spMk id="8" creationId="{5F8FA503-F4F8-DDF7-3B06-C3BD23232C5A}"/>
          </ac:spMkLst>
        </pc:spChg>
        <pc:spChg chg="add mod">
          <ac:chgData name="soumya mishra" userId="a4e049825699fe7b" providerId="LiveId" clId="{12B3837A-280F-4641-894F-3CA87DDE9379}" dt="2025-04-24T17:43:03.304" v="1308" actId="14100"/>
          <ac:spMkLst>
            <pc:docMk/>
            <pc:sldMk cId="1912273701" sldId="611"/>
            <ac:spMk id="9" creationId="{2C345750-004B-71FF-33B6-89856ACD3478}"/>
          </ac:spMkLst>
        </pc:spChg>
        <pc:picChg chg="add mod">
          <ac:chgData name="soumya mishra" userId="a4e049825699fe7b" providerId="LiveId" clId="{12B3837A-280F-4641-894F-3CA87DDE9379}" dt="2025-04-24T17:41:22.259" v="1293" actId="14100"/>
          <ac:picMkLst>
            <pc:docMk/>
            <pc:sldMk cId="1912273701" sldId="611"/>
            <ac:picMk id="4" creationId="{73FF1F5C-614B-23AA-DBEE-8160A6A024DA}"/>
          </ac:picMkLst>
        </pc:picChg>
        <pc:picChg chg="add mod">
          <ac:chgData name="soumya mishra" userId="a4e049825699fe7b" providerId="LiveId" clId="{12B3837A-280F-4641-894F-3CA87DDE9379}" dt="2025-04-24T17:41:19.534" v="1292" actId="1076"/>
          <ac:picMkLst>
            <pc:docMk/>
            <pc:sldMk cId="1912273701" sldId="611"/>
            <ac:picMk id="6" creationId="{AC0E53C2-D7C5-1B57-C929-71A51CA41979}"/>
          </ac:picMkLst>
        </pc:picChg>
      </pc:sldChg>
      <pc:sldChg chg="addSp modSp new mod">
        <pc:chgData name="soumya mishra" userId="a4e049825699fe7b" providerId="LiveId" clId="{12B3837A-280F-4641-894F-3CA87DDE9379}" dt="2025-04-24T17:44:52.375" v="1321" actId="1076"/>
        <pc:sldMkLst>
          <pc:docMk/>
          <pc:sldMk cId="577732705" sldId="612"/>
        </pc:sldMkLst>
        <pc:spChg chg="add mod">
          <ac:chgData name="soumya mishra" userId="a4e049825699fe7b" providerId="LiveId" clId="{12B3837A-280F-4641-894F-3CA87DDE9379}" dt="2025-04-24T17:44:52.375" v="1321" actId="1076"/>
          <ac:spMkLst>
            <pc:docMk/>
            <pc:sldMk cId="577732705" sldId="612"/>
            <ac:spMk id="5" creationId="{6785B8C4-99B8-E9CA-F672-F47E3A0CDD38}"/>
          </ac:spMkLst>
        </pc:spChg>
        <pc:picChg chg="add mod">
          <ac:chgData name="soumya mishra" userId="a4e049825699fe7b" providerId="LiveId" clId="{12B3837A-280F-4641-894F-3CA87DDE9379}" dt="2025-04-24T17:43:40.379" v="1315" actId="1076"/>
          <ac:picMkLst>
            <pc:docMk/>
            <pc:sldMk cId="577732705" sldId="612"/>
            <ac:picMk id="3" creationId="{44E5455C-93C7-F843-4633-99CAA6A671A1}"/>
          </ac:picMkLst>
        </pc:picChg>
      </pc:sldChg>
      <pc:sldChg chg="addSp modSp new mod">
        <pc:chgData name="soumya mishra" userId="a4e049825699fe7b" providerId="LiveId" clId="{12B3837A-280F-4641-894F-3CA87DDE9379}" dt="2025-04-24T17:50:09.819" v="1537" actId="1076"/>
        <pc:sldMkLst>
          <pc:docMk/>
          <pc:sldMk cId="3840845713" sldId="613"/>
        </pc:sldMkLst>
        <pc:spChg chg="add mod">
          <ac:chgData name="soumya mishra" userId="a4e049825699fe7b" providerId="LiveId" clId="{12B3837A-280F-4641-894F-3CA87DDE9379}" dt="2025-04-24T17:48:18.036" v="1402" actId="1076"/>
          <ac:spMkLst>
            <pc:docMk/>
            <pc:sldMk cId="3840845713" sldId="613"/>
            <ac:spMk id="3" creationId="{80617917-81FD-61CB-DDA4-4EF128B62D92}"/>
          </ac:spMkLst>
        </pc:spChg>
        <pc:spChg chg="add mod">
          <ac:chgData name="soumya mishra" userId="a4e049825699fe7b" providerId="LiveId" clId="{12B3837A-280F-4641-894F-3CA87DDE9379}" dt="2025-04-24T17:48:28.308" v="1404" actId="1076"/>
          <ac:spMkLst>
            <pc:docMk/>
            <pc:sldMk cId="3840845713" sldId="613"/>
            <ac:spMk id="4" creationId="{4B475E99-19C0-0636-4120-F80EF20F1021}"/>
          </ac:spMkLst>
        </pc:spChg>
        <pc:spChg chg="add mod">
          <ac:chgData name="soumya mishra" userId="a4e049825699fe7b" providerId="LiveId" clId="{12B3837A-280F-4641-894F-3CA87DDE9379}" dt="2025-04-24T17:50:09.819" v="1537" actId="1076"/>
          <ac:spMkLst>
            <pc:docMk/>
            <pc:sldMk cId="3840845713" sldId="613"/>
            <ac:spMk id="5" creationId="{F1DBD926-EC27-EB26-604A-23BB542C85E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5/5/2025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5/5/2025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689D6-F988-36D0-D3E5-43EBA9B82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8EE16-37A0-9A29-E8EF-CEFA18239A62}"/>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FA20FBE7-0769-2870-65B4-602407DA412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68AA4D4-D3FB-7917-EF09-378D6AA874E7}"/>
              </a:ext>
            </a:extLst>
          </p:cNvPr>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164497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6: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6: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6: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15</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28</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5/5/2025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5/5/2025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1C117DA-E63C-A88A-CE36-802FDA28C02B}"/>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20C349-54D6-D421-BD30-C086C93D68AC}"/>
              </a:ext>
            </a:extLst>
          </p:cNvPr>
          <p:cNvSpPr txBox="1"/>
          <p:nvPr/>
        </p:nvSpPr>
        <p:spPr>
          <a:xfrm>
            <a:off x="1219200" y="838200"/>
            <a:ext cx="9067800" cy="1323439"/>
          </a:xfrm>
          <a:prstGeom prst="rect">
            <a:avLst/>
          </a:prstGeom>
          <a:noFill/>
        </p:spPr>
        <p:txBody>
          <a:bodyPr wrap="square">
            <a:spAutoFit/>
          </a:bodyPr>
          <a:lstStyle/>
          <a:p>
            <a:pPr algn="ctr"/>
            <a:r>
              <a:rPr lang="en-US" sz="4000" b="1" dirty="0">
                <a:solidFill>
                  <a:srgbClr val="FF0000"/>
                </a:solidFill>
                <a:latin typeface="Trebuchet MS" panose="020B0603020202020204" pitchFamily="34" charset="0"/>
              </a:rPr>
              <a:t>UE22CS320B –  Capstone Project Phase – 2</a:t>
            </a:r>
            <a:r>
              <a:rPr lang="en-US" sz="2800" b="1" dirty="0">
                <a:solidFill>
                  <a:srgbClr val="FF0000"/>
                </a:solidFill>
                <a:latin typeface="Trebuchet MS" pitchFamily="34" charset="0"/>
              </a:rPr>
              <a:t> </a:t>
            </a:r>
            <a:r>
              <a:rPr lang="en-US" sz="4000" b="1" dirty="0">
                <a:solidFill>
                  <a:srgbClr val="FF0000"/>
                </a:solidFill>
                <a:latin typeface="Trebuchet MS" pitchFamily="34" charset="0"/>
              </a:rPr>
              <a:t>ESA</a:t>
            </a:r>
          </a:p>
        </p:txBody>
      </p:sp>
      <p:sp>
        <p:nvSpPr>
          <p:cNvPr id="7" name="TextBox 6">
            <a:extLst>
              <a:ext uri="{FF2B5EF4-FFF2-40B4-BE49-F238E27FC236}">
                <a16:creationId xmlns:a16="http://schemas.microsoft.com/office/drawing/2014/main" id="{C5D029E8-5302-A824-AAE8-75056D6CFBAD}"/>
              </a:ext>
            </a:extLst>
          </p:cNvPr>
          <p:cNvSpPr txBox="1"/>
          <p:nvPr/>
        </p:nvSpPr>
        <p:spPr>
          <a:xfrm>
            <a:off x="2400300" y="2362200"/>
            <a:ext cx="7315200" cy="523220"/>
          </a:xfrm>
          <a:prstGeom prst="rect">
            <a:avLst/>
          </a:prstGeom>
          <a:noFill/>
        </p:spPr>
        <p:txBody>
          <a:bodyPr wrap="square">
            <a:spAutoFit/>
          </a:bodyPr>
          <a:lstStyle/>
          <a:p>
            <a:pPr>
              <a:spcBef>
                <a:spcPts val="0"/>
              </a:spcBef>
              <a:spcAft>
                <a:spcPts val="0"/>
              </a:spcAft>
            </a:pPr>
            <a:r>
              <a:rPr lang="en-IN" sz="2800" b="1" u="sng" dirty="0">
                <a:solidFill>
                  <a:srgbClr val="0033CC"/>
                </a:solidFill>
                <a:latin typeface="Trebuchet MS" panose="020B0603020202020204"/>
                <a:ea typeface="Trebuchet MS" panose="020B0603020202020204"/>
                <a:cs typeface="Trebuchet MS" panose="020B0603020202020204"/>
                <a:sym typeface="Trebuchet MS" panose="020B0603020202020204"/>
              </a:rPr>
              <a:t>Detection And Mitigation Of Replay Attacks</a:t>
            </a:r>
          </a:p>
        </p:txBody>
      </p:sp>
      <p:sp>
        <p:nvSpPr>
          <p:cNvPr id="11" name="TextBox 10">
            <a:extLst>
              <a:ext uri="{FF2B5EF4-FFF2-40B4-BE49-F238E27FC236}">
                <a16:creationId xmlns:a16="http://schemas.microsoft.com/office/drawing/2014/main" id="{4A83348B-EF1D-E0AC-4D3B-F2AFE32873ED}"/>
              </a:ext>
            </a:extLst>
          </p:cNvPr>
          <p:cNvSpPr txBox="1"/>
          <p:nvPr/>
        </p:nvSpPr>
        <p:spPr>
          <a:xfrm>
            <a:off x="1219200" y="3311843"/>
            <a:ext cx="6094602" cy="830997"/>
          </a:xfrm>
          <a:prstGeom prst="rect">
            <a:avLst/>
          </a:prstGeom>
          <a:noFill/>
        </p:spPr>
        <p:txBody>
          <a:bodyPr wrap="square">
            <a:spAutoFit/>
          </a:bodyPr>
          <a:lstStyle/>
          <a:p>
            <a:pPr>
              <a:spcBef>
                <a:spcPts val="0"/>
              </a:spcBef>
              <a:spcAft>
                <a:spcPts val="0"/>
              </a:spcAft>
            </a:pPr>
            <a:r>
              <a:rPr lang="en-IN" sz="2400" b="1" dirty="0">
                <a:solidFill>
                  <a:srgbClr val="0033CC"/>
                </a:solidFill>
                <a:latin typeface="Trebuchet MS" panose="020B0603020202020204"/>
                <a:ea typeface="Trebuchet MS" panose="020B0603020202020204"/>
                <a:cs typeface="Trebuchet MS" panose="020B0603020202020204"/>
                <a:sym typeface="Trebuchet MS" panose="020B0603020202020204"/>
              </a:rPr>
              <a:t>Project Guide: </a:t>
            </a:r>
            <a:r>
              <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rPr>
              <a:t>Dr Sarasvathi V              </a:t>
            </a:r>
          </a:p>
          <a:p>
            <a:pPr>
              <a:spcBef>
                <a:spcPts val="0"/>
              </a:spcBef>
              <a:spcAft>
                <a:spcPts val="0"/>
              </a:spcAft>
            </a:pPr>
            <a:r>
              <a:rPr lang="en-IN" sz="2400" b="1" dirty="0">
                <a:solidFill>
                  <a:srgbClr val="0033CC"/>
                </a:solidFill>
                <a:latin typeface="Trebuchet MS" panose="020B0603020202020204"/>
                <a:ea typeface="Trebuchet MS" panose="020B0603020202020204"/>
                <a:cs typeface="Trebuchet MS" panose="020B0603020202020204"/>
                <a:sym typeface="Trebuchet MS" panose="020B0603020202020204"/>
              </a:rPr>
              <a:t>Project ID: </a:t>
            </a:r>
            <a:r>
              <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rPr>
              <a:t>49</a:t>
            </a:r>
          </a:p>
        </p:txBody>
      </p:sp>
      <p:sp>
        <p:nvSpPr>
          <p:cNvPr id="13" name="TextBox 12">
            <a:extLst>
              <a:ext uri="{FF2B5EF4-FFF2-40B4-BE49-F238E27FC236}">
                <a16:creationId xmlns:a16="http://schemas.microsoft.com/office/drawing/2014/main" id="{981C4EF5-CF3F-1BA2-A0CE-074D1CB18A5B}"/>
              </a:ext>
            </a:extLst>
          </p:cNvPr>
          <p:cNvSpPr txBox="1"/>
          <p:nvPr/>
        </p:nvSpPr>
        <p:spPr>
          <a:xfrm>
            <a:off x="1219200" y="4114800"/>
            <a:ext cx="7467600" cy="3416320"/>
          </a:xfrm>
          <a:prstGeom prst="rect">
            <a:avLst/>
          </a:prstGeom>
          <a:noFill/>
        </p:spPr>
        <p:txBody>
          <a:bodyPr wrap="square">
            <a:spAutoFit/>
          </a:bodyPr>
          <a:lstStyle/>
          <a:p>
            <a:pPr>
              <a:spcBef>
                <a:spcPts val="0"/>
              </a:spcBef>
              <a:spcAft>
                <a:spcPts val="0"/>
              </a:spcAft>
            </a:pPr>
            <a:r>
              <a:rPr lang="en-IN" sz="2400" b="1" dirty="0">
                <a:solidFill>
                  <a:srgbClr val="0033CC"/>
                </a:solidFill>
                <a:latin typeface="Trebuchet MS" panose="020B0603020202020204"/>
                <a:ea typeface="Trebuchet MS" panose="020B0603020202020204"/>
                <a:cs typeface="Trebuchet MS" panose="020B0603020202020204"/>
                <a:sym typeface="Trebuchet MS" panose="020B0603020202020204"/>
              </a:rPr>
              <a:t>Project Team: </a:t>
            </a:r>
          </a:p>
          <a:p>
            <a:pPr marL="285750" indent="-285750">
              <a:spcBef>
                <a:spcPts val="0"/>
              </a:spcBef>
              <a:spcAft>
                <a:spcPts val="0"/>
              </a:spcAft>
              <a:buFont typeface="Arial" panose="020B0604020202020204" pitchFamily="34" charset="0"/>
              <a:buChar char="•"/>
            </a:pPr>
            <a:r>
              <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rPr>
              <a:t>Mohit Prasad Singh (PES2UG22CS320)</a:t>
            </a:r>
          </a:p>
          <a:p>
            <a:pPr marL="285750" indent="-285750">
              <a:spcBef>
                <a:spcPts val="0"/>
              </a:spcBef>
              <a:spcAft>
                <a:spcPts val="0"/>
              </a:spcAft>
              <a:buFont typeface="Arial" panose="020B0604020202020204" pitchFamily="34" charset="0"/>
              <a:buChar char="•"/>
            </a:pPr>
            <a:r>
              <a:rPr lang="en-IN" sz="2400" dirty="0">
                <a:solidFill>
                  <a:srgbClr val="0033CC"/>
                </a:solidFill>
                <a:latin typeface="Trebuchet MS" panose="020B0603020202020204"/>
                <a:sym typeface="Trebuchet MS" panose="020B0603020202020204"/>
              </a:rPr>
              <a:t>Shreyas S (PES2UG22CS540)</a:t>
            </a:r>
          </a:p>
          <a:p>
            <a:pPr marL="285750" indent="-285750">
              <a:spcBef>
                <a:spcPts val="0"/>
              </a:spcBef>
              <a:spcAft>
                <a:spcPts val="0"/>
              </a:spcAft>
              <a:buFont typeface="Arial" panose="020B0604020202020204" pitchFamily="34" charset="0"/>
              <a:buChar char="•"/>
            </a:pPr>
            <a:r>
              <a:rPr lang="en-IN" sz="2400" dirty="0">
                <a:solidFill>
                  <a:srgbClr val="0033CC"/>
                </a:solidFill>
                <a:latin typeface="Trebuchet MS" panose="020B0603020202020204"/>
                <a:sym typeface="Trebuchet MS" panose="020B0603020202020204"/>
              </a:rPr>
              <a:t>Soumya Ranjan Mishra (PES2UG22CS571)</a:t>
            </a:r>
          </a:p>
          <a:p>
            <a:pPr marL="285750" indent="-285750">
              <a:spcBef>
                <a:spcPts val="0"/>
              </a:spcBef>
              <a:spcAft>
                <a:spcPts val="0"/>
              </a:spcAft>
              <a:buFont typeface="Arial" panose="020B0604020202020204" pitchFamily="34" charset="0"/>
              <a:buChar char="•"/>
            </a:pPr>
            <a:r>
              <a:rPr lang="en-IN" sz="2400" dirty="0">
                <a:solidFill>
                  <a:srgbClr val="0033CC"/>
                </a:solidFill>
                <a:latin typeface="Trebuchet MS" panose="020B0603020202020204"/>
                <a:sym typeface="Trebuchet MS" panose="020B0603020202020204"/>
              </a:rPr>
              <a:t>Suhas Venkata (PES2UG22CS590)</a:t>
            </a:r>
          </a:p>
          <a:p>
            <a:pPr>
              <a:spcBef>
                <a:spcPts val="0"/>
              </a:spcBef>
              <a:spcAft>
                <a:spcPts val="0"/>
              </a:spcAft>
            </a:pPr>
            <a:endParaRPr lang="en-IN" sz="2400" dirty="0">
              <a:solidFill>
                <a:srgbClr val="0033CC"/>
              </a:solidFill>
            </a:endParaRPr>
          </a:p>
          <a:p>
            <a:pPr>
              <a:spcBef>
                <a:spcPts val="0"/>
              </a:spcBef>
              <a:spcAft>
                <a:spcPts val="0"/>
              </a:spcAft>
            </a:pPr>
            <a:r>
              <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rPr>
              <a:t> </a:t>
            </a:r>
            <a:endParaRPr lang="en-IN" sz="2400" dirty="0">
              <a:solidFill>
                <a:srgbClr val="0033CC"/>
              </a:solidFill>
            </a:endParaRPr>
          </a:p>
          <a:p>
            <a:pPr>
              <a:spcBef>
                <a:spcPts val="0"/>
              </a:spcBef>
              <a:spcAft>
                <a:spcPts val="0"/>
              </a:spcAft>
            </a:pPr>
            <a:endPar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lang="en-IN"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txBox="1">
            <a:spLocks/>
          </p:cNvSpPr>
          <p:nvPr/>
        </p:nvSpPr>
        <p:spPr>
          <a:xfrm>
            <a:off x="761999" y="704165"/>
            <a:ext cx="10561317" cy="4724400"/>
          </a:xfrm>
          <a:prstGeom prst="rect">
            <a:avLst/>
          </a:prstGeom>
        </p:spPr>
        <p:txBody>
          <a:bodyPr/>
          <a:lstStyle/>
          <a:p>
            <a:pPr marL="342891" algn="just" eaLnBrk="0" hangingPunct="0">
              <a:lnSpc>
                <a:spcPct val="150000"/>
              </a:lnSpc>
              <a:spcBef>
                <a:spcPts val="0"/>
              </a:spcBef>
              <a:spcAft>
                <a:spcPts val="0"/>
              </a:spcAft>
              <a:defRPr/>
            </a:pPr>
            <a:r>
              <a:rPr lang="en-US" sz="2400" dirty="0">
                <a:solidFill>
                  <a:srgbClr val="0033CC"/>
                </a:solidFill>
                <a:latin typeface="Trebuchet MS"/>
                <a:ea typeface="Trebuchet MS"/>
                <a:cs typeface="Trebuchet MS"/>
                <a:sym typeface="Trebuchet MS"/>
              </a:rPr>
              <a:t>Abstract </a:t>
            </a:r>
          </a:p>
          <a:p>
            <a:pPr marL="342891" algn="just" eaLnBrk="0" hangingPunct="0">
              <a:lnSpc>
                <a:spcPct val="150000"/>
              </a:lnSpc>
              <a:spcBef>
                <a:spcPts val="0"/>
              </a:spcBef>
              <a:spcAft>
                <a:spcPts val="0"/>
              </a:spcAft>
              <a:defRPr/>
            </a:pPr>
            <a:r>
              <a:rPr lang="en-US" sz="2400" kern="0" dirty="0">
                <a:solidFill>
                  <a:srgbClr val="0000FF"/>
                </a:solidFill>
                <a:latin typeface="Trebuchet MS" pitchFamily="34" charset="0"/>
              </a:rPr>
              <a:t>Suggestions from Review – 1</a:t>
            </a:r>
          </a:p>
          <a:p>
            <a:pPr marL="342891" algn="just" eaLnBrk="0" hangingPunct="0">
              <a:lnSpc>
                <a:spcPct val="150000"/>
              </a:lnSpc>
              <a:spcBef>
                <a:spcPct val="20000"/>
              </a:spcBef>
              <a:defRPr/>
            </a:pPr>
            <a:r>
              <a:rPr lang="en-US" sz="2400" kern="0" dirty="0">
                <a:solidFill>
                  <a:srgbClr val="0000FF"/>
                </a:solidFill>
                <a:latin typeface="Trebuchet MS" pitchFamily="34" charset="0"/>
              </a:rPr>
              <a:t>Suggestions from Review – 2</a:t>
            </a:r>
          </a:p>
          <a:p>
            <a:pPr marL="342891" algn="just" eaLnBrk="0" hangingPunct="0">
              <a:lnSpc>
                <a:spcPct val="150000"/>
              </a:lnSpc>
              <a:spcBef>
                <a:spcPct val="20000"/>
              </a:spcBef>
              <a:defRPr/>
            </a:pPr>
            <a:r>
              <a:rPr lang="en-US" sz="2400" kern="0" dirty="0">
                <a:solidFill>
                  <a:srgbClr val="0000FF"/>
                </a:solidFill>
                <a:latin typeface="Trebuchet MS" pitchFamily="34" charset="0"/>
              </a:rPr>
              <a:t>Analysis and Critique of Research/Relevance –Application in Real world</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High Level Design</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Design Methodology</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Project Progress (Minimum 20% implementation)</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Data Preprocessing and Base Model Implementation </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Individual Contribution </a:t>
            </a:r>
          </a:p>
          <a:p>
            <a:pPr marL="342891" algn="just" eaLnBrk="0" hangingPunct="0">
              <a:lnSpc>
                <a:spcPct val="150000"/>
              </a:lnSpc>
              <a:spcBef>
                <a:spcPct val="20000"/>
              </a:spcBef>
              <a:defRPr/>
            </a:pPr>
            <a:r>
              <a:rPr lang="en-US" sz="2400" kern="0" dirty="0">
                <a:solidFill>
                  <a:srgbClr val="0000FF"/>
                </a:solidFill>
                <a:latin typeface="Trebuchet MS" pitchFamily="34" charset="0"/>
                <a:sym typeface="Trebuchet MS"/>
              </a:rPr>
              <a:t>References</a:t>
            </a:r>
            <a:endParaRPr lang="en-US" sz="2400" dirty="0">
              <a:solidFill>
                <a:srgbClr val="0033CC"/>
              </a:solidFill>
              <a:latin typeface="Trebuchet MS"/>
              <a:ea typeface="Trebuchet MS"/>
              <a:cs typeface="Trebuchet MS"/>
              <a:sym typeface="Trebuchet MS"/>
            </a:endParaRPr>
          </a:p>
          <a:p>
            <a:pPr marL="685791" indent="-342900" algn="just" eaLnBrk="0" hangingPunct="0">
              <a:lnSpc>
                <a:spcPct val="150000"/>
              </a:lnSpc>
              <a:spcBef>
                <a:spcPts val="0"/>
              </a:spcBef>
              <a:spcAft>
                <a:spcPts val="0"/>
              </a:spcAft>
              <a:buFont typeface="Arial" panose="020B0604020202020204" pitchFamily="34" charset="0"/>
              <a:buChar char="•"/>
              <a:defRPr/>
            </a:pPr>
            <a:endParaRPr lang="en-US" sz="2400" dirty="0">
              <a:solidFill>
                <a:srgbClr val="0033CC"/>
              </a:solidFill>
              <a:latin typeface="Trebuchet MS"/>
              <a:sym typeface="Trebuchet MS"/>
            </a:endParaRPr>
          </a:p>
        </p:txBody>
      </p:sp>
      <p:sp>
        <p:nvSpPr>
          <p:cNvPr id="14" name="Text Box 34"/>
          <p:cNvSpPr txBox="1">
            <a:spLocks noChangeArrowheads="1"/>
          </p:cNvSpPr>
          <p:nvPr/>
        </p:nvSpPr>
        <p:spPr bwMode="auto">
          <a:xfrm>
            <a:off x="4495800" y="57834"/>
            <a:ext cx="2057400" cy="646331"/>
          </a:xfrm>
          <a:prstGeom prst="rect">
            <a:avLst/>
          </a:prstGeom>
          <a:noFill/>
          <a:ln w="9525">
            <a:noFill/>
            <a:miter lim="800000"/>
            <a:headEnd/>
            <a:tailEnd/>
          </a:ln>
        </p:spPr>
        <p:txBody>
          <a:bodyPr wrap="square">
            <a:spAutoFit/>
          </a:bodyPr>
          <a:lstStyle/>
          <a:p>
            <a:pPr marL="342891" indent="-342891" algn="r" eaLnBrk="0" hangingPunct="0">
              <a:defRPr/>
            </a:pPr>
            <a:r>
              <a:rPr lang="en-US" sz="3600" b="1" dirty="0">
                <a:solidFill>
                  <a:srgbClr val="FF0000"/>
                </a:solidFill>
                <a:latin typeface="Trebuchet MS" pitchFamily="34" charset="0"/>
              </a:rPr>
              <a:t>Outline</a:t>
            </a:r>
          </a:p>
        </p:txBody>
      </p:sp>
      <p:sp>
        <p:nvSpPr>
          <p:cNvPr id="2" name="Rectangle 1">
            <a:extLst>
              <a:ext uri="{FF2B5EF4-FFF2-40B4-BE49-F238E27FC236}">
                <a16:creationId xmlns:a16="http://schemas.microsoft.com/office/drawing/2014/main" id="{EBF880F0-2C46-3F86-6E01-48520279DFD6}"/>
              </a:ext>
            </a:extLst>
          </p:cNvPr>
          <p:cNvSpPr>
            <a:spLocks noChangeArrowheads="1"/>
          </p:cNvSpPr>
          <p:nvPr/>
        </p:nvSpPr>
        <p:spPr bwMode="auto">
          <a:xfrm rot="5400000">
            <a:off x="-1920242" y="3749040"/>
            <a:ext cx="5867402" cy="45719"/>
          </a:xfrm>
          <a:prstGeom prst="rect">
            <a:avLst/>
          </a:prstGeom>
          <a:solidFill>
            <a:srgbClr val="33CCCC"/>
          </a:solidFill>
          <a:ln w="9525">
            <a:noFill/>
            <a:miter lim="800000"/>
            <a:headEnd/>
            <a:tailEnd/>
          </a:ln>
        </p:spPr>
        <p:txBody>
          <a:bodyPr wrap="none" anchor="ctr"/>
          <a:lstStyle/>
          <a:p>
            <a:endParaRPr lang="en-US"/>
          </a:p>
        </p:txBody>
      </p:sp>
      <p:sp>
        <p:nvSpPr>
          <p:cNvPr id="3" name="TextBox 2">
            <a:extLst>
              <a:ext uri="{FF2B5EF4-FFF2-40B4-BE49-F238E27FC236}">
                <a16:creationId xmlns:a16="http://schemas.microsoft.com/office/drawing/2014/main" id="{D4026EE8-8606-5562-6645-1B2F9488908C}"/>
              </a:ext>
            </a:extLst>
          </p:cNvPr>
          <p:cNvSpPr txBox="1"/>
          <p:nvPr/>
        </p:nvSpPr>
        <p:spPr>
          <a:xfrm>
            <a:off x="472447" y="838199"/>
            <a:ext cx="396236" cy="369332"/>
          </a:xfrm>
          <a:prstGeom prst="rect">
            <a:avLst/>
          </a:prstGeom>
          <a:noFill/>
        </p:spPr>
        <p:txBody>
          <a:bodyPr wrap="square" rtlCol="0">
            <a:spAutoFit/>
          </a:bodyPr>
          <a:lstStyle/>
          <a:p>
            <a:r>
              <a:rPr lang="en-US" b="1" dirty="0">
                <a:solidFill>
                  <a:srgbClr val="0000FF"/>
                </a:solidFill>
              </a:rPr>
              <a:t>1. </a:t>
            </a:r>
            <a:endParaRPr lang="en-IN" b="1" dirty="0">
              <a:solidFill>
                <a:srgbClr val="0000FF"/>
              </a:solidFill>
            </a:endParaRPr>
          </a:p>
        </p:txBody>
      </p:sp>
      <p:sp>
        <p:nvSpPr>
          <p:cNvPr id="4" name="TextBox 3">
            <a:extLst>
              <a:ext uri="{FF2B5EF4-FFF2-40B4-BE49-F238E27FC236}">
                <a16:creationId xmlns:a16="http://schemas.microsoft.com/office/drawing/2014/main" id="{E93733CF-80B4-5FD8-6AD6-6D351A300829}"/>
              </a:ext>
            </a:extLst>
          </p:cNvPr>
          <p:cNvSpPr txBox="1"/>
          <p:nvPr/>
        </p:nvSpPr>
        <p:spPr>
          <a:xfrm>
            <a:off x="495307" y="1429435"/>
            <a:ext cx="396236" cy="369332"/>
          </a:xfrm>
          <a:prstGeom prst="rect">
            <a:avLst/>
          </a:prstGeom>
          <a:noFill/>
        </p:spPr>
        <p:txBody>
          <a:bodyPr wrap="square" rtlCol="0">
            <a:spAutoFit/>
          </a:bodyPr>
          <a:lstStyle/>
          <a:p>
            <a:r>
              <a:rPr lang="en-US" b="1" dirty="0">
                <a:solidFill>
                  <a:srgbClr val="0000FF"/>
                </a:solidFill>
              </a:rPr>
              <a:t>2. </a:t>
            </a:r>
            <a:endParaRPr lang="en-IN" b="1" dirty="0">
              <a:solidFill>
                <a:srgbClr val="0000FF"/>
              </a:solidFill>
            </a:endParaRPr>
          </a:p>
        </p:txBody>
      </p:sp>
      <p:sp>
        <p:nvSpPr>
          <p:cNvPr id="6" name="TextBox 5">
            <a:extLst>
              <a:ext uri="{FF2B5EF4-FFF2-40B4-BE49-F238E27FC236}">
                <a16:creationId xmlns:a16="http://schemas.microsoft.com/office/drawing/2014/main" id="{65C2B21E-B459-586F-F1AA-B66CE90C48BD}"/>
              </a:ext>
            </a:extLst>
          </p:cNvPr>
          <p:cNvSpPr txBox="1"/>
          <p:nvPr/>
        </p:nvSpPr>
        <p:spPr>
          <a:xfrm>
            <a:off x="518167" y="1996699"/>
            <a:ext cx="396236" cy="369332"/>
          </a:xfrm>
          <a:prstGeom prst="rect">
            <a:avLst/>
          </a:prstGeom>
          <a:noFill/>
        </p:spPr>
        <p:txBody>
          <a:bodyPr wrap="square" rtlCol="0">
            <a:spAutoFit/>
          </a:bodyPr>
          <a:lstStyle/>
          <a:p>
            <a:r>
              <a:rPr lang="en-US" b="1" dirty="0">
                <a:solidFill>
                  <a:srgbClr val="0000FF"/>
                </a:solidFill>
              </a:rPr>
              <a:t>3. </a:t>
            </a:r>
            <a:endParaRPr lang="en-IN" b="1" dirty="0">
              <a:solidFill>
                <a:srgbClr val="0000FF"/>
              </a:solidFill>
            </a:endParaRPr>
          </a:p>
        </p:txBody>
      </p:sp>
      <p:sp>
        <p:nvSpPr>
          <p:cNvPr id="7" name="TextBox 6">
            <a:extLst>
              <a:ext uri="{FF2B5EF4-FFF2-40B4-BE49-F238E27FC236}">
                <a16:creationId xmlns:a16="http://schemas.microsoft.com/office/drawing/2014/main" id="{06B5A597-5C68-0309-6A71-D7BC7D8F7EF1}"/>
              </a:ext>
            </a:extLst>
          </p:cNvPr>
          <p:cNvSpPr txBox="1"/>
          <p:nvPr/>
        </p:nvSpPr>
        <p:spPr>
          <a:xfrm>
            <a:off x="517251" y="3846350"/>
            <a:ext cx="396236" cy="369332"/>
          </a:xfrm>
          <a:prstGeom prst="rect">
            <a:avLst/>
          </a:prstGeom>
          <a:noFill/>
        </p:spPr>
        <p:txBody>
          <a:bodyPr wrap="square" rtlCol="0">
            <a:spAutoFit/>
          </a:bodyPr>
          <a:lstStyle/>
          <a:p>
            <a:r>
              <a:rPr lang="en-US" b="1" dirty="0">
                <a:solidFill>
                  <a:srgbClr val="0000FF"/>
                </a:solidFill>
              </a:rPr>
              <a:t>6. </a:t>
            </a:r>
            <a:endParaRPr lang="en-IN" b="1" dirty="0">
              <a:solidFill>
                <a:srgbClr val="0000FF"/>
              </a:solidFill>
            </a:endParaRPr>
          </a:p>
        </p:txBody>
      </p:sp>
      <p:sp>
        <p:nvSpPr>
          <p:cNvPr id="8" name="TextBox 7">
            <a:extLst>
              <a:ext uri="{FF2B5EF4-FFF2-40B4-BE49-F238E27FC236}">
                <a16:creationId xmlns:a16="http://schemas.microsoft.com/office/drawing/2014/main" id="{836E299B-6F74-70DF-C840-8F0355D9D1B0}"/>
              </a:ext>
            </a:extLst>
          </p:cNvPr>
          <p:cNvSpPr txBox="1"/>
          <p:nvPr/>
        </p:nvSpPr>
        <p:spPr>
          <a:xfrm>
            <a:off x="517251" y="2633467"/>
            <a:ext cx="396236" cy="369332"/>
          </a:xfrm>
          <a:prstGeom prst="rect">
            <a:avLst/>
          </a:prstGeom>
          <a:noFill/>
        </p:spPr>
        <p:txBody>
          <a:bodyPr wrap="square" rtlCol="0">
            <a:spAutoFit/>
          </a:bodyPr>
          <a:lstStyle/>
          <a:p>
            <a:r>
              <a:rPr lang="en-US" b="1" dirty="0">
                <a:solidFill>
                  <a:srgbClr val="0000FF"/>
                </a:solidFill>
              </a:rPr>
              <a:t>4. </a:t>
            </a:r>
            <a:endParaRPr lang="en-IN" b="1" dirty="0">
              <a:solidFill>
                <a:srgbClr val="0000FF"/>
              </a:solidFill>
            </a:endParaRPr>
          </a:p>
        </p:txBody>
      </p:sp>
      <p:sp>
        <p:nvSpPr>
          <p:cNvPr id="9" name="TextBox 8">
            <a:extLst>
              <a:ext uri="{FF2B5EF4-FFF2-40B4-BE49-F238E27FC236}">
                <a16:creationId xmlns:a16="http://schemas.microsoft.com/office/drawing/2014/main" id="{32234528-1F2A-9195-6585-36B1DD5DE1B3}"/>
              </a:ext>
            </a:extLst>
          </p:cNvPr>
          <p:cNvSpPr txBox="1"/>
          <p:nvPr/>
        </p:nvSpPr>
        <p:spPr>
          <a:xfrm>
            <a:off x="502782" y="3271985"/>
            <a:ext cx="396236" cy="369332"/>
          </a:xfrm>
          <a:prstGeom prst="rect">
            <a:avLst/>
          </a:prstGeom>
          <a:noFill/>
        </p:spPr>
        <p:txBody>
          <a:bodyPr wrap="square" rtlCol="0">
            <a:spAutoFit/>
          </a:bodyPr>
          <a:lstStyle/>
          <a:p>
            <a:r>
              <a:rPr lang="en-US" b="1" dirty="0">
                <a:solidFill>
                  <a:srgbClr val="0000FF"/>
                </a:solidFill>
              </a:rPr>
              <a:t>5. </a:t>
            </a:r>
            <a:endParaRPr lang="en-IN" b="1" dirty="0">
              <a:solidFill>
                <a:srgbClr val="0000FF"/>
              </a:solidFill>
            </a:endParaRPr>
          </a:p>
        </p:txBody>
      </p:sp>
      <p:sp>
        <p:nvSpPr>
          <p:cNvPr id="11" name="TextBox 10">
            <a:extLst>
              <a:ext uri="{FF2B5EF4-FFF2-40B4-BE49-F238E27FC236}">
                <a16:creationId xmlns:a16="http://schemas.microsoft.com/office/drawing/2014/main" id="{155DE5D9-0460-D495-594D-6CF6D55E9DB2}"/>
              </a:ext>
            </a:extLst>
          </p:cNvPr>
          <p:cNvSpPr txBox="1"/>
          <p:nvPr/>
        </p:nvSpPr>
        <p:spPr>
          <a:xfrm>
            <a:off x="517251" y="4468709"/>
            <a:ext cx="396236" cy="369332"/>
          </a:xfrm>
          <a:prstGeom prst="rect">
            <a:avLst/>
          </a:prstGeom>
          <a:noFill/>
        </p:spPr>
        <p:txBody>
          <a:bodyPr wrap="square" rtlCol="0">
            <a:spAutoFit/>
          </a:bodyPr>
          <a:lstStyle/>
          <a:p>
            <a:r>
              <a:rPr lang="en-US" b="1" dirty="0">
                <a:solidFill>
                  <a:srgbClr val="0000FF"/>
                </a:solidFill>
              </a:rPr>
              <a:t>7. </a:t>
            </a:r>
            <a:endParaRPr lang="en-IN" b="1" dirty="0">
              <a:solidFill>
                <a:srgbClr val="0000FF"/>
              </a:solidFill>
            </a:endParaRPr>
          </a:p>
        </p:txBody>
      </p:sp>
      <p:sp>
        <p:nvSpPr>
          <p:cNvPr id="12" name="TextBox 11">
            <a:extLst>
              <a:ext uri="{FF2B5EF4-FFF2-40B4-BE49-F238E27FC236}">
                <a16:creationId xmlns:a16="http://schemas.microsoft.com/office/drawing/2014/main" id="{DFADD653-92FC-B41A-8870-7794E29F7AD3}"/>
              </a:ext>
            </a:extLst>
          </p:cNvPr>
          <p:cNvSpPr txBox="1"/>
          <p:nvPr/>
        </p:nvSpPr>
        <p:spPr>
          <a:xfrm>
            <a:off x="517251" y="5114535"/>
            <a:ext cx="396236" cy="369332"/>
          </a:xfrm>
          <a:prstGeom prst="rect">
            <a:avLst/>
          </a:prstGeom>
          <a:noFill/>
        </p:spPr>
        <p:txBody>
          <a:bodyPr wrap="square" rtlCol="0">
            <a:spAutoFit/>
          </a:bodyPr>
          <a:lstStyle/>
          <a:p>
            <a:r>
              <a:rPr lang="en-US" b="1" dirty="0">
                <a:solidFill>
                  <a:srgbClr val="0000FF"/>
                </a:solidFill>
              </a:rPr>
              <a:t>8. </a:t>
            </a:r>
            <a:endParaRPr lang="en-IN" b="1" dirty="0">
              <a:solidFill>
                <a:srgbClr val="0000FF"/>
              </a:solidFill>
            </a:endParaRPr>
          </a:p>
        </p:txBody>
      </p:sp>
      <p:sp>
        <p:nvSpPr>
          <p:cNvPr id="13" name="TextBox 12">
            <a:extLst>
              <a:ext uri="{FF2B5EF4-FFF2-40B4-BE49-F238E27FC236}">
                <a16:creationId xmlns:a16="http://schemas.microsoft.com/office/drawing/2014/main" id="{F2D61592-02E6-D5B6-41D7-4316CEB722FC}"/>
              </a:ext>
            </a:extLst>
          </p:cNvPr>
          <p:cNvSpPr txBox="1"/>
          <p:nvPr/>
        </p:nvSpPr>
        <p:spPr>
          <a:xfrm>
            <a:off x="517251" y="5760361"/>
            <a:ext cx="396236" cy="369332"/>
          </a:xfrm>
          <a:prstGeom prst="rect">
            <a:avLst/>
          </a:prstGeom>
          <a:noFill/>
        </p:spPr>
        <p:txBody>
          <a:bodyPr wrap="square" rtlCol="0">
            <a:spAutoFit/>
          </a:bodyPr>
          <a:lstStyle/>
          <a:p>
            <a:r>
              <a:rPr lang="en-US" b="1" dirty="0">
                <a:solidFill>
                  <a:srgbClr val="0000FF"/>
                </a:solidFill>
              </a:rPr>
              <a:t>9. </a:t>
            </a:r>
            <a:endParaRPr lang="en-IN" b="1" dirty="0">
              <a:solidFill>
                <a:srgbClr val="0000FF"/>
              </a:solidFill>
            </a:endParaRPr>
          </a:p>
        </p:txBody>
      </p:sp>
      <p:sp>
        <p:nvSpPr>
          <p:cNvPr id="15" name="TextBox 14">
            <a:extLst>
              <a:ext uri="{FF2B5EF4-FFF2-40B4-BE49-F238E27FC236}">
                <a16:creationId xmlns:a16="http://schemas.microsoft.com/office/drawing/2014/main" id="{07604764-8908-C116-C3A9-21D1025EACB4}"/>
              </a:ext>
            </a:extLst>
          </p:cNvPr>
          <p:cNvSpPr txBox="1"/>
          <p:nvPr/>
        </p:nvSpPr>
        <p:spPr>
          <a:xfrm>
            <a:off x="381000" y="6334519"/>
            <a:ext cx="532487" cy="369332"/>
          </a:xfrm>
          <a:prstGeom prst="rect">
            <a:avLst/>
          </a:prstGeom>
          <a:noFill/>
        </p:spPr>
        <p:txBody>
          <a:bodyPr wrap="square" rtlCol="0">
            <a:spAutoFit/>
          </a:bodyPr>
          <a:lstStyle/>
          <a:p>
            <a:r>
              <a:rPr lang="en-US" b="1" dirty="0">
                <a:solidFill>
                  <a:srgbClr val="0000FF"/>
                </a:solidFill>
              </a:rPr>
              <a:t>10. </a:t>
            </a:r>
            <a:endParaRPr lang="en-IN" b="1" dirty="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38603-75F2-97B5-227B-64F8AFDD8114}"/>
              </a:ext>
            </a:extLst>
          </p:cNvPr>
          <p:cNvSpPr txBox="1"/>
          <p:nvPr/>
        </p:nvSpPr>
        <p:spPr>
          <a:xfrm>
            <a:off x="2438400" y="182031"/>
            <a:ext cx="5486400" cy="707886"/>
          </a:xfrm>
          <a:prstGeom prst="rect">
            <a:avLst/>
          </a:prstGeom>
          <a:noFill/>
        </p:spPr>
        <p:txBody>
          <a:bodyPr wrap="square">
            <a:spAutoFit/>
          </a:bodyPr>
          <a:lstStyle/>
          <a:p>
            <a:pPr marL="342891" indent="-342891" algn="r" eaLnBrk="0" hangingPunct="0">
              <a:defRPr/>
            </a:pPr>
            <a:r>
              <a:rPr lang="en-US" sz="4000" b="1" dirty="0">
                <a:solidFill>
                  <a:srgbClr val="FF0000"/>
                </a:solidFill>
                <a:latin typeface="Trebuchet MS" pitchFamily="34" charset="0"/>
                <a:sym typeface="Trebuchet MS"/>
              </a:rPr>
              <a:t>Problem Statement  </a:t>
            </a:r>
            <a:endParaRPr lang="en-US" sz="4000" b="1" dirty="0">
              <a:solidFill>
                <a:srgbClr val="FF0000"/>
              </a:solidFill>
              <a:latin typeface="Trebuchet MS" pitchFamily="34" charset="0"/>
            </a:endParaRPr>
          </a:p>
        </p:txBody>
      </p:sp>
      <p:sp>
        <p:nvSpPr>
          <p:cNvPr id="4" name="Rectangle 3">
            <a:extLst>
              <a:ext uri="{FF2B5EF4-FFF2-40B4-BE49-F238E27FC236}">
                <a16:creationId xmlns:a16="http://schemas.microsoft.com/office/drawing/2014/main" id="{8297C399-28F3-7EF4-8439-3EA6DC9926CD}"/>
              </a:ext>
            </a:extLst>
          </p:cNvPr>
          <p:cNvSpPr>
            <a:spLocks noChangeArrowheads="1"/>
          </p:cNvSpPr>
          <p:nvPr/>
        </p:nvSpPr>
        <p:spPr bwMode="auto">
          <a:xfrm>
            <a:off x="1600200" y="889917"/>
            <a:ext cx="7772400" cy="45719"/>
          </a:xfrm>
          <a:prstGeom prst="rect">
            <a:avLst/>
          </a:prstGeom>
          <a:solidFill>
            <a:srgbClr val="33CCCC"/>
          </a:solidFill>
          <a:ln w="9525">
            <a:noFill/>
            <a:miter lim="800000"/>
            <a:headEnd/>
            <a:tailEnd/>
          </a:ln>
        </p:spPr>
        <p:txBody>
          <a:bodyPr wrap="none" anchor="ctr"/>
          <a:lstStyle/>
          <a:p>
            <a:endParaRPr lang="en-US"/>
          </a:p>
        </p:txBody>
      </p:sp>
      <p:sp>
        <p:nvSpPr>
          <p:cNvPr id="5" name="TextBox 4">
            <a:extLst>
              <a:ext uri="{FF2B5EF4-FFF2-40B4-BE49-F238E27FC236}">
                <a16:creationId xmlns:a16="http://schemas.microsoft.com/office/drawing/2014/main" id="{AFF2D9D4-43AE-26DB-B399-4707F8C07610}"/>
              </a:ext>
            </a:extLst>
          </p:cNvPr>
          <p:cNvSpPr txBox="1"/>
          <p:nvPr/>
        </p:nvSpPr>
        <p:spPr>
          <a:xfrm>
            <a:off x="152400" y="990600"/>
            <a:ext cx="11811000" cy="6467412"/>
          </a:xfrm>
          <a:prstGeom prst="rect">
            <a:avLst/>
          </a:prstGeom>
          <a:noFill/>
        </p:spPr>
        <p:txBody>
          <a:bodyPr wrap="square" rtlCol="0">
            <a:spAutoFit/>
          </a:bodyPr>
          <a:lstStyle/>
          <a:p>
            <a:pPr algn="ctr">
              <a:lnSpc>
                <a:spcPct val="150000"/>
              </a:lnSpc>
            </a:pPr>
            <a:r>
              <a:rPr lang="en-US" sz="2400" b="1" kern="0" dirty="0">
                <a:latin typeface="Trebuchet MS" panose="020B0603020202020204" pitchFamily="34" charset="0"/>
              </a:rPr>
              <a:t>“Replay Attacks on CCTV Systems: A Significant Threat”</a:t>
            </a:r>
          </a:p>
          <a:p>
            <a:pPr>
              <a:lnSpc>
                <a:spcPct val="150000"/>
              </a:lnSpc>
            </a:pPr>
            <a:r>
              <a:rPr lang="en-US" sz="1800" dirty="0"/>
              <a:t>CCTV systems are essential for modern surveillance, yet they are vulnerable to replay attacks, where attackers intercept and resend legitimate data, leading to unauthorized actions. These attacks exploit the lack of robust security measures, particularly in communication protocols that fail to implement strong authentication and encryption​.</a:t>
            </a:r>
          </a:p>
          <a:p>
            <a:pPr>
              <a:lnSpc>
                <a:spcPct val="150000"/>
              </a:lnSpc>
            </a:pPr>
            <a:endParaRPr lang="en-US" sz="1800" dirty="0"/>
          </a:p>
          <a:p>
            <a:pPr marL="342900" indent="-342900">
              <a:lnSpc>
                <a:spcPct val="150000"/>
              </a:lnSpc>
              <a:buFont typeface="Arial" panose="020B0604020202020204" pitchFamily="34" charset="0"/>
              <a:buChar char="•"/>
            </a:pPr>
            <a:r>
              <a:rPr lang="en-US" sz="1800" dirty="0"/>
              <a:t>The consequences can be severe, including unauthorized access, manipulation of recorded footage, and compromised integrity of surveillance data. Industries such as banking and transportation face significant risks, as compromised CCTV can undermine public safety and trust​. </a:t>
            </a:r>
          </a:p>
          <a:p>
            <a:pPr marL="342900" indent="-342900">
              <a:lnSpc>
                <a:spcPct val="150000"/>
              </a:lnSpc>
              <a:buFont typeface="Arial" panose="020B0604020202020204" pitchFamily="34" charset="0"/>
              <a:buChar char="•"/>
            </a:pPr>
            <a:endParaRPr lang="en-US" sz="1800" dirty="0"/>
          </a:p>
          <a:p>
            <a:pPr marL="342900" indent="-342900">
              <a:lnSpc>
                <a:spcPct val="150000"/>
              </a:lnSpc>
              <a:buFont typeface="Arial" panose="020B0604020202020204" pitchFamily="34" charset="0"/>
              <a:buChar char="•"/>
            </a:pPr>
            <a:r>
              <a:rPr lang="en-US" sz="1800" dirty="0"/>
              <a:t>Despite existing security measures, there remains a gap in addressing replay attack vulnerabilities. This project aims to develop an AI-based detection and response system to enhance the security of CCTV networks against these specific threats, ensuring a more reliable surveillance infrastructure</a:t>
            </a:r>
            <a:endParaRPr lang="en-IN" sz="1800" dirty="0"/>
          </a:p>
          <a:p>
            <a:pPr marL="342900" indent="12700" eaLnBrk="0" hangingPunct="0">
              <a:lnSpc>
                <a:spcPct val="150000"/>
              </a:lnSpc>
              <a:spcBef>
                <a:spcPct val="20000"/>
              </a:spcBef>
              <a:defRPr/>
            </a:pPr>
            <a:endParaRPr lang="en-IN" sz="1800" kern="0" dirty="0">
              <a:latin typeface="Trebuchet MS" panose="020B0603020202020204" pitchFamily="34" charset="0"/>
            </a:endParaRPr>
          </a:p>
          <a:p>
            <a:pPr>
              <a:lnSpc>
                <a:spcPct val="150000"/>
              </a:lnSpc>
            </a:pPr>
            <a:endParaRPr lang="en-IN" dirty="0"/>
          </a:p>
        </p:txBody>
      </p:sp>
    </p:spTree>
    <p:extLst>
      <p:ext uri="{BB962C8B-B14F-4D97-AF65-F5344CB8AC3E}">
        <p14:creationId xmlns:p14="http://schemas.microsoft.com/office/powerpoint/2010/main" val="838054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txBox="1">
            <a:spLocks/>
          </p:cNvSpPr>
          <p:nvPr/>
        </p:nvSpPr>
        <p:spPr>
          <a:xfrm>
            <a:off x="685800" y="1828800"/>
            <a:ext cx="8077200" cy="4191000"/>
          </a:xfrm>
          <a:prstGeom prst="rect">
            <a:avLst/>
          </a:prstGeom>
        </p:spPr>
        <p:txBody>
          <a:bodyPr/>
          <a:lstStyle/>
          <a:p>
            <a:pPr marL="342891" algn="just" eaLnBrk="0" hangingPunct="0">
              <a:spcBef>
                <a:spcPct val="20000"/>
              </a:spcBef>
              <a:defRPr/>
            </a:pP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2971800" y="130314"/>
            <a:ext cx="5257800" cy="707886"/>
          </a:xfrm>
          <a:prstGeom prst="rect">
            <a:avLst/>
          </a:prstGeom>
          <a:noFill/>
          <a:ln w="9525">
            <a:noFill/>
            <a:miter lim="800000"/>
            <a:headEnd/>
            <a:tailEnd/>
          </a:ln>
        </p:spPr>
        <p:txBody>
          <a:bodyPr wrap="square">
            <a:spAutoFit/>
          </a:bodyPr>
          <a:lstStyle/>
          <a:p>
            <a:pPr marL="342891" indent="-342891" algn="r" eaLnBrk="0" hangingPunct="0">
              <a:defRPr/>
            </a:pPr>
            <a:r>
              <a:rPr lang="en-US" sz="4000" b="1" dirty="0">
                <a:solidFill>
                  <a:srgbClr val="FF0000"/>
                </a:solidFill>
                <a:latin typeface="Trebuchet MS" pitchFamily="34" charset="0"/>
                <a:sym typeface="Trebuchet MS"/>
              </a:rPr>
              <a:t>Abstract And Scope  </a:t>
            </a:r>
            <a:endParaRPr lang="en-US" sz="4000" b="1" dirty="0">
              <a:solidFill>
                <a:srgbClr val="FF0000"/>
              </a:solidFill>
              <a:latin typeface="Trebuchet MS" pitchFamily="34" charset="0"/>
            </a:endParaRPr>
          </a:p>
        </p:txBody>
      </p:sp>
      <p:sp>
        <p:nvSpPr>
          <p:cNvPr id="3" name="TextBox 2">
            <a:extLst>
              <a:ext uri="{FF2B5EF4-FFF2-40B4-BE49-F238E27FC236}">
                <a16:creationId xmlns:a16="http://schemas.microsoft.com/office/drawing/2014/main" id="{10E5E6A6-ACB1-272C-AE32-A1FE07D926D9}"/>
              </a:ext>
            </a:extLst>
          </p:cNvPr>
          <p:cNvSpPr txBox="1"/>
          <p:nvPr/>
        </p:nvSpPr>
        <p:spPr>
          <a:xfrm>
            <a:off x="114300" y="990600"/>
            <a:ext cx="11963400" cy="5442516"/>
          </a:xfrm>
          <a:prstGeom prst="rect">
            <a:avLst/>
          </a:prstGeom>
          <a:noFill/>
        </p:spPr>
        <p:txBody>
          <a:bodyPr wrap="square" rtlCol="0">
            <a:spAutoFit/>
          </a:bodyPr>
          <a:lstStyle/>
          <a:p>
            <a:pPr>
              <a:lnSpc>
                <a:spcPct val="150000"/>
              </a:lnSpc>
            </a:pPr>
            <a:r>
              <a:rPr lang="en-US" dirty="0"/>
              <a:t>CCTV systems are vital for surveillance across sectors like banking, transportation, healthcare, and public safety. However, they face growing cyber threats, especially replay attacks, where intercepted video or data streams are retransmitted to deceive the system. This leads to unauthorized access, footage tampering, and compromised surveillance integrity, exposing the need for robust security enhancements. This project proposes an AI-based detection and response system to mitigate replay attacks by integrating machine learning and cryptographic security measures. Key components include: </a:t>
            </a:r>
          </a:p>
          <a:p>
            <a:pPr marL="285750" indent="-285750">
              <a:lnSpc>
                <a:spcPct val="150000"/>
              </a:lnSpc>
              <a:buFontTx/>
              <a:buChar char="-"/>
            </a:pPr>
            <a:r>
              <a:rPr lang="en-US" b="1" dirty="0"/>
              <a:t>Secure Communication Protocols: </a:t>
            </a:r>
            <a:r>
              <a:rPr lang="en-US" dirty="0"/>
              <a:t>Encrypting data and verifying stream authenticity. </a:t>
            </a:r>
          </a:p>
          <a:p>
            <a:pPr marL="285750" indent="-285750">
              <a:lnSpc>
                <a:spcPct val="150000"/>
              </a:lnSpc>
              <a:buFontTx/>
              <a:buChar char="-"/>
            </a:pPr>
            <a:r>
              <a:rPr lang="en-US" b="1" dirty="0"/>
              <a:t>AI-Powered Anomaly Detection: </a:t>
            </a:r>
            <a:r>
              <a:rPr lang="en-US" dirty="0"/>
              <a:t>Identifying timestamp and frame inconsistencies in video streams.</a:t>
            </a:r>
          </a:p>
          <a:p>
            <a:pPr marL="285750" indent="-285750">
              <a:lnSpc>
                <a:spcPct val="150000"/>
              </a:lnSpc>
              <a:buFontTx/>
              <a:buChar char="-"/>
            </a:pPr>
            <a:r>
              <a:rPr lang="en-US" b="1" dirty="0"/>
              <a:t>Real-Time Automated Response: </a:t>
            </a:r>
            <a:r>
              <a:rPr lang="en-US" dirty="0"/>
              <a:t>Alerting admins, isolating compromised devices, and blocking threats.</a:t>
            </a:r>
          </a:p>
          <a:p>
            <a:pPr marL="285750" indent="-285750">
              <a:lnSpc>
                <a:spcPct val="150000"/>
              </a:lnSpc>
              <a:buFontTx/>
              <a:buChar char="-"/>
            </a:pPr>
            <a:r>
              <a:rPr lang="en-US" b="1" dirty="0"/>
              <a:t>Modular Design: </a:t>
            </a:r>
            <a:r>
              <a:rPr lang="en-US" dirty="0"/>
              <a:t>Seamlessly integrating with existing infrastructures. The system undergoes vulnerability assessments, machine learning model training, and rigorous testing to ensure effectiveness, scalability, and ease of use. Expected outcomes include improved replay attack detection, enhanced CCTV security, and greater trust in surveillance technologies, making this a significant step towards adaptive, secure surveillance solutions.</a:t>
            </a:r>
            <a:endParaRPr lang="en-IN" dirty="0"/>
          </a:p>
        </p:txBody>
      </p:sp>
      <p:sp>
        <p:nvSpPr>
          <p:cNvPr id="4" name="Rectangle 3">
            <a:extLst>
              <a:ext uri="{FF2B5EF4-FFF2-40B4-BE49-F238E27FC236}">
                <a16:creationId xmlns:a16="http://schemas.microsoft.com/office/drawing/2014/main" id="{C28BD5CD-D1A9-D437-8838-CF0423A497CF}"/>
              </a:ext>
            </a:extLst>
          </p:cNvPr>
          <p:cNvSpPr>
            <a:spLocks noChangeArrowheads="1"/>
          </p:cNvSpPr>
          <p:nvPr/>
        </p:nvSpPr>
        <p:spPr bwMode="auto">
          <a:xfrm>
            <a:off x="1828800" y="828413"/>
            <a:ext cx="7772400" cy="45719"/>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381103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9FC5-E1BC-DE82-DB96-80EE189C5A8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FFEA6F4-E844-37E4-E74C-0D7B8F9147D9}"/>
              </a:ext>
            </a:extLst>
          </p:cNvPr>
          <p:cNvSpPr>
            <a:spLocks noChangeArrowheads="1"/>
          </p:cNvSpPr>
          <p:nvPr/>
        </p:nvSpPr>
        <p:spPr bwMode="auto">
          <a:xfrm>
            <a:off x="1828800" y="762000"/>
            <a:ext cx="7772400" cy="45719"/>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C7ECCC90-D7BA-7AB7-1609-4B507E9631E5}"/>
              </a:ext>
            </a:extLst>
          </p:cNvPr>
          <p:cNvSpPr txBox="1">
            <a:spLocks/>
          </p:cNvSpPr>
          <p:nvPr/>
        </p:nvSpPr>
        <p:spPr>
          <a:xfrm>
            <a:off x="3444205" y="3040378"/>
            <a:ext cx="5303590" cy="777243"/>
          </a:xfrm>
          <a:prstGeom prst="rect">
            <a:avLst/>
          </a:prstGeom>
        </p:spPr>
        <p:txBody>
          <a:bodyPr/>
          <a:lstStyle/>
          <a:p>
            <a:pPr marL="685791" indent="-342900" algn="just" eaLnBrk="0" hangingPunct="0">
              <a:lnSpc>
                <a:spcPct val="150000"/>
              </a:lnSpc>
              <a:spcBef>
                <a:spcPct val="20000"/>
              </a:spcBef>
              <a:buFont typeface="Wingdings" panose="05000000000000000000" pitchFamily="2" charset="2"/>
              <a:buChar char="ü"/>
              <a:defRPr/>
            </a:pPr>
            <a:r>
              <a:rPr lang="en-IN" sz="2800" kern="0" dirty="0">
                <a:solidFill>
                  <a:srgbClr val="0000FF"/>
                </a:solidFill>
                <a:latin typeface="Trebuchet MS" pitchFamily="34" charset="0"/>
              </a:rPr>
              <a:t>Fix the high-level diagram</a:t>
            </a:r>
          </a:p>
          <a:p>
            <a:pPr marL="342891" algn="just" eaLnBrk="0" hangingPunct="0">
              <a:lnSpc>
                <a:spcPct val="150000"/>
              </a:lnSpc>
              <a:spcBef>
                <a:spcPct val="20000"/>
              </a:spcBef>
              <a:defRPr/>
            </a:pPr>
            <a:r>
              <a:rPr lang="en-IN" sz="2400" kern="0" dirty="0">
                <a:solidFill>
                  <a:srgbClr val="0000FF"/>
                </a:solidFill>
                <a:latin typeface="Trebuchet MS" pitchFamily="34" charset="0"/>
              </a:rPr>
              <a:t>	</a:t>
            </a:r>
          </a:p>
          <a:p>
            <a:pPr marL="685791" indent="-342900" algn="just" eaLnBrk="0" hangingPunct="0">
              <a:spcBef>
                <a:spcPct val="20000"/>
              </a:spcBef>
              <a:buFont typeface="Wingdings" panose="05000000000000000000" pitchFamily="2" charset="2"/>
              <a:buChar char="ü"/>
              <a:defRPr/>
            </a:pPr>
            <a:endParaRPr lang="en-IN" sz="2400" kern="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C6131D96-1223-C722-D8C5-4603755465D1}"/>
              </a:ext>
            </a:extLst>
          </p:cNvPr>
          <p:cNvSpPr txBox="1">
            <a:spLocks noChangeArrowheads="1"/>
          </p:cNvSpPr>
          <p:nvPr/>
        </p:nvSpPr>
        <p:spPr bwMode="auto">
          <a:xfrm>
            <a:off x="2743200" y="177225"/>
            <a:ext cx="5600700" cy="584775"/>
          </a:xfrm>
          <a:prstGeom prst="rect">
            <a:avLst/>
          </a:prstGeom>
          <a:noFill/>
          <a:ln w="9525">
            <a:noFill/>
            <a:miter lim="800000"/>
            <a:headEnd/>
            <a:tailEnd/>
          </a:ln>
        </p:spPr>
        <p:txBody>
          <a:bodyPr wrap="square">
            <a:spAutoFit/>
          </a:bodyPr>
          <a:lstStyle/>
          <a:p>
            <a:pPr algn="r" eaLnBrk="0" hangingPunct="0">
              <a:defRPr/>
            </a:pPr>
            <a:r>
              <a:rPr lang="en-US" sz="3200" b="1" dirty="0">
                <a:solidFill>
                  <a:srgbClr val="FF0000"/>
                </a:solidFill>
                <a:latin typeface="Trebuchet MS" pitchFamily="34" charset="0"/>
                <a:sym typeface="Trebuchet MS"/>
              </a:rPr>
              <a:t>Suggestions from Review – 1</a:t>
            </a:r>
          </a:p>
        </p:txBody>
      </p:sp>
    </p:spTree>
    <p:extLst>
      <p:ext uri="{BB962C8B-B14F-4D97-AF65-F5344CB8AC3E}">
        <p14:creationId xmlns:p14="http://schemas.microsoft.com/office/powerpoint/2010/main" val="3588208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133600" y="990600"/>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667000" y="2971800"/>
            <a:ext cx="7543800" cy="2136776"/>
          </a:xfrm>
          <a:prstGeom prst="rect">
            <a:avLst/>
          </a:prstGeom>
        </p:spPr>
        <p:txBody>
          <a:bodyPr/>
          <a:lstStyle/>
          <a:p>
            <a:pPr marL="685791" indent="-342900" algn="just" eaLnBrk="0" hangingPunct="0">
              <a:spcBef>
                <a:spcPct val="20000"/>
              </a:spcBef>
              <a:buFont typeface="Wingdings" panose="05000000000000000000" pitchFamily="2" charset="2"/>
              <a:buChar char="q"/>
              <a:defRPr/>
            </a:pPr>
            <a:r>
              <a:rPr lang="en-US" sz="2400" kern="0" dirty="0">
                <a:solidFill>
                  <a:srgbClr val="0000FF"/>
                </a:solidFill>
                <a:latin typeface="Trebuchet MS" pitchFamily="34" charset="0"/>
              </a:rPr>
              <a:t>F</a:t>
            </a:r>
            <a:r>
              <a:rPr lang="en-IN" sz="2400" kern="0" dirty="0">
                <a:solidFill>
                  <a:srgbClr val="0000FF"/>
                </a:solidFill>
                <a:latin typeface="Trebuchet MS" pitchFamily="34" charset="0"/>
              </a:rPr>
              <a:t>ind a better way to simulate replay attack</a:t>
            </a:r>
          </a:p>
          <a:p>
            <a:pPr marL="685791" indent="-342900" algn="just" eaLnBrk="0" hangingPunct="0">
              <a:spcBef>
                <a:spcPct val="20000"/>
              </a:spcBef>
              <a:buFont typeface="Wingdings" panose="05000000000000000000" pitchFamily="2" charset="2"/>
              <a:buChar char="q"/>
              <a:defRPr/>
            </a:pPr>
            <a:r>
              <a:rPr lang="en-IN" sz="2400" kern="0" dirty="0">
                <a:solidFill>
                  <a:srgbClr val="0000FF"/>
                </a:solidFill>
                <a:latin typeface="Trebuchet MS" pitchFamily="34" charset="0"/>
              </a:rPr>
              <a:t>Make a better presentation</a:t>
            </a:r>
          </a:p>
        </p:txBody>
      </p:sp>
      <p:sp>
        <p:nvSpPr>
          <p:cNvPr id="14" name="Text Box 34"/>
          <p:cNvSpPr txBox="1">
            <a:spLocks noChangeArrowheads="1"/>
          </p:cNvSpPr>
          <p:nvPr/>
        </p:nvSpPr>
        <p:spPr bwMode="auto">
          <a:xfrm>
            <a:off x="1676400" y="228600"/>
            <a:ext cx="7696200" cy="707886"/>
          </a:xfrm>
          <a:prstGeom prst="rect">
            <a:avLst/>
          </a:prstGeom>
          <a:noFill/>
          <a:ln w="9525">
            <a:noFill/>
            <a:miter lim="800000"/>
            <a:headEnd/>
            <a:tailEnd/>
          </a:ln>
        </p:spPr>
        <p:txBody>
          <a:bodyPr wrap="square">
            <a:spAutoFit/>
          </a:bodyPr>
          <a:lstStyle/>
          <a:p>
            <a:pPr algn="r" eaLnBrk="0" hangingPunct="0">
              <a:defRPr/>
            </a:pPr>
            <a:r>
              <a:rPr lang="en-US" sz="4000" b="1" dirty="0">
                <a:solidFill>
                  <a:srgbClr val="FF0000"/>
                </a:solidFill>
                <a:latin typeface="Trebuchet MS" pitchFamily="34" charset="0"/>
                <a:sym typeface="Trebuchet MS"/>
              </a:rPr>
              <a:t>Suggestions from Review – 2</a:t>
            </a:r>
          </a:p>
        </p:txBody>
      </p:sp>
    </p:spTree>
    <p:extLst>
      <p:ext uri="{BB962C8B-B14F-4D97-AF65-F5344CB8AC3E}">
        <p14:creationId xmlns:p14="http://schemas.microsoft.com/office/powerpoint/2010/main" val="420536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B4CED6-A3AB-BB97-5642-47283CE93EA4}"/>
              </a:ext>
            </a:extLst>
          </p:cNvPr>
          <p:cNvSpPr txBox="1"/>
          <p:nvPr/>
        </p:nvSpPr>
        <p:spPr>
          <a:xfrm>
            <a:off x="2514600" y="-8389"/>
            <a:ext cx="8153400" cy="523220"/>
          </a:xfrm>
          <a:prstGeom prst="rect">
            <a:avLst/>
          </a:prstGeom>
          <a:noFill/>
        </p:spPr>
        <p:txBody>
          <a:bodyPr wrap="square">
            <a:spAutoFit/>
          </a:bodyPr>
          <a:lstStyle/>
          <a:p>
            <a:r>
              <a:rPr lang="en-US" sz="2800" b="1" dirty="0">
                <a:solidFill>
                  <a:srgbClr val="FF0000"/>
                </a:solidFill>
                <a:latin typeface="Trebuchet MS"/>
                <a:ea typeface="Trebuchet MS"/>
                <a:cs typeface="Trebuchet MS"/>
                <a:sym typeface="Trebuchet MS"/>
              </a:rPr>
              <a:t>Analysis and Critique of Research</a:t>
            </a:r>
            <a:endParaRPr lang="en-IN" sz="2800" b="1" dirty="0"/>
          </a:p>
        </p:txBody>
      </p:sp>
      <p:sp>
        <p:nvSpPr>
          <p:cNvPr id="4" name="Google Shape;45;p6">
            <a:extLst>
              <a:ext uri="{FF2B5EF4-FFF2-40B4-BE49-F238E27FC236}">
                <a16:creationId xmlns:a16="http://schemas.microsoft.com/office/drawing/2014/main" id="{545C8CE2-0043-AF84-1D71-C33867C3725F}"/>
              </a:ext>
            </a:extLst>
          </p:cNvPr>
          <p:cNvSpPr/>
          <p:nvPr/>
        </p:nvSpPr>
        <p:spPr>
          <a:xfrm>
            <a:off x="1447800" y="478231"/>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 name="TextBox 5">
            <a:extLst>
              <a:ext uri="{FF2B5EF4-FFF2-40B4-BE49-F238E27FC236}">
                <a16:creationId xmlns:a16="http://schemas.microsoft.com/office/drawing/2014/main" id="{BD8D68C0-F6A0-1835-8789-47DA88E18C48}"/>
              </a:ext>
            </a:extLst>
          </p:cNvPr>
          <p:cNvSpPr txBox="1"/>
          <p:nvPr/>
        </p:nvSpPr>
        <p:spPr>
          <a:xfrm>
            <a:off x="152400" y="514831"/>
            <a:ext cx="11811000" cy="5858399"/>
          </a:xfrm>
          <a:prstGeom prst="rect">
            <a:avLst/>
          </a:prstGeom>
          <a:noFill/>
        </p:spPr>
        <p:txBody>
          <a:bodyPr wrap="square">
            <a:spAutoFit/>
          </a:bodyPr>
          <a:lstStyle/>
          <a:p>
            <a:pPr>
              <a:lnSpc>
                <a:spcPct val="150000"/>
              </a:lnSpc>
            </a:pPr>
            <a:r>
              <a:rPr lang="en-US" b="1" u="sng" dirty="0">
                <a:solidFill>
                  <a:srgbClr val="0000FF"/>
                </a:solidFill>
              </a:rPr>
              <a:t>Analysis and Critique of Research:</a:t>
            </a:r>
            <a:r>
              <a:rPr lang="en-US" u="sng" dirty="0">
                <a:solidFill>
                  <a:srgbClr val="0000FF"/>
                </a:solidFill>
              </a:rPr>
              <a:t> </a:t>
            </a:r>
            <a:r>
              <a:rPr lang="en-US" b="1" u="sng" dirty="0">
                <a:solidFill>
                  <a:srgbClr val="0000FF"/>
                </a:solidFill>
              </a:rPr>
              <a:t>Strengths of Discussed Methods:</a:t>
            </a:r>
            <a:r>
              <a:rPr lang="en-US" u="sng" dirty="0">
                <a:solidFill>
                  <a:srgbClr val="0000FF"/>
                </a:solidFill>
              </a:rPr>
              <a:t> </a:t>
            </a:r>
          </a:p>
          <a:p>
            <a:pPr marL="742950" lvl="1" indent="-285750">
              <a:lnSpc>
                <a:spcPct val="150000"/>
              </a:lnSpc>
              <a:buFont typeface="Arial" panose="020B0604020202020204" pitchFamily="34" charset="0"/>
              <a:buChar char="•"/>
            </a:pPr>
            <a:r>
              <a:rPr lang="en-US" b="1" dirty="0"/>
              <a:t>Watermarking: </a:t>
            </a:r>
            <a:r>
              <a:rPr lang="en-US" dirty="0"/>
              <a:t>Proposed as an active defense for CPS, injecting hidden signals to authenticate data flow and detect stealthy attacks/replays.</a:t>
            </a:r>
          </a:p>
          <a:p>
            <a:pPr marL="742950" lvl="1" indent="-285750">
              <a:lnSpc>
                <a:spcPct val="150000"/>
              </a:lnSpc>
              <a:buFont typeface="Arial" panose="020B0604020202020204" pitchFamily="34" charset="0"/>
              <a:buChar char="•"/>
            </a:pPr>
            <a:r>
              <a:rPr lang="en-US" b="1" dirty="0"/>
              <a:t>Observer-Based Detection: </a:t>
            </a:r>
            <a:r>
              <a:rPr lang="en-US" dirty="0"/>
              <a:t>Kalman Filters (or similar) used for detecting attacks in CPS like DC microgrids, aiming for low computational load.</a:t>
            </a:r>
          </a:p>
          <a:p>
            <a:pPr lvl="1">
              <a:lnSpc>
                <a:spcPct val="150000"/>
              </a:lnSpc>
            </a:pPr>
            <a:r>
              <a:rPr lang="en-US" b="1" u="sng" dirty="0">
                <a:solidFill>
                  <a:srgbClr val="0000FF"/>
                </a:solidFill>
              </a:rPr>
              <a:t>Identified Weaknesses/Challenges:</a:t>
            </a:r>
            <a:r>
              <a:rPr lang="en-US" u="sng" dirty="0">
                <a:solidFill>
                  <a:srgbClr val="0000FF"/>
                </a:solidFill>
              </a:rPr>
              <a:t> </a:t>
            </a:r>
          </a:p>
          <a:p>
            <a:pPr marL="742950" lvl="1" indent="-285750">
              <a:lnSpc>
                <a:spcPct val="150000"/>
              </a:lnSpc>
              <a:buFont typeface="Arial" panose="020B0604020202020204" pitchFamily="34" charset="0"/>
              <a:buChar char="•"/>
            </a:pPr>
            <a:r>
              <a:rPr lang="en-US" b="1" dirty="0"/>
              <a:t>Stealthy Attacks: </a:t>
            </a:r>
            <a:r>
              <a:rPr lang="en-US" dirty="0"/>
              <a:t>Replay attacks specifically leverage valid past data, making them difficult for standard model-based detectors to identify.</a:t>
            </a:r>
          </a:p>
          <a:p>
            <a:pPr marL="742950" lvl="1" indent="-285750">
              <a:lnSpc>
                <a:spcPct val="150000"/>
              </a:lnSpc>
              <a:buFont typeface="Arial" panose="020B0604020202020204" pitchFamily="34" charset="0"/>
              <a:buChar char="•"/>
            </a:pPr>
            <a:r>
              <a:rPr lang="en-US" b="1" dirty="0"/>
              <a:t>CPS Vulnerability: </a:t>
            </a:r>
            <a:r>
              <a:rPr lang="en-US" dirty="0"/>
              <a:t>Networked nature makes systems susceptible to various attacks, including replay, that can destabilize physical processes.</a:t>
            </a:r>
          </a:p>
          <a:p>
            <a:pPr lvl="1">
              <a:lnSpc>
                <a:spcPct val="150000"/>
              </a:lnSpc>
            </a:pPr>
            <a:r>
              <a:rPr lang="en-US" b="1" u="sng" dirty="0">
                <a:solidFill>
                  <a:srgbClr val="0000FF"/>
                </a:solidFill>
              </a:rPr>
              <a:t>Gaps/Potential Improvements:</a:t>
            </a:r>
            <a:r>
              <a:rPr lang="en-US" u="sng" dirty="0">
                <a:solidFill>
                  <a:srgbClr val="0000FF"/>
                </a:solidFill>
              </a:rPr>
              <a:t> </a:t>
            </a:r>
          </a:p>
          <a:p>
            <a:pPr marL="742950" lvl="1" indent="-285750">
              <a:lnSpc>
                <a:spcPct val="150000"/>
              </a:lnSpc>
              <a:buFont typeface="Arial" panose="020B0604020202020204" pitchFamily="34" charset="0"/>
              <a:buChar char="•"/>
            </a:pPr>
            <a:r>
              <a:rPr lang="en-US" b="1" dirty="0"/>
              <a:t>Resilient Architectures: </a:t>
            </a:r>
            <a:r>
              <a:rPr lang="en-US" dirty="0"/>
              <a:t>Need for holistic CPS design focused on stability and resilience against attacks.</a:t>
            </a:r>
          </a:p>
          <a:p>
            <a:pPr marL="742950" lvl="1" indent="-285750">
              <a:lnSpc>
                <a:spcPct val="150000"/>
              </a:lnSpc>
              <a:buFont typeface="Arial" panose="020B0604020202020204" pitchFamily="34" charset="0"/>
              <a:buChar char="•"/>
            </a:pPr>
            <a:r>
              <a:rPr lang="en-US" b="1" dirty="0"/>
              <a:t>Resource Management: </a:t>
            </a:r>
            <a:r>
              <a:rPr lang="en-US" dirty="0"/>
              <a:t>Balancing security mechanism requirements with system resources is an ongoing challenge.</a:t>
            </a:r>
            <a:endParaRPr lang="en-US" dirty="0">
              <a:solidFill>
                <a:srgbClr val="0000FF"/>
              </a:solidFill>
              <a:latin typeface="Trebuchet MS"/>
              <a:ea typeface="Trebuchet MS"/>
              <a:cs typeface="Trebuchet MS"/>
              <a:sym typeface="Trebuchet MS"/>
            </a:endParaRPr>
          </a:p>
        </p:txBody>
      </p:sp>
    </p:spTree>
    <p:extLst>
      <p:ext uri="{BB962C8B-B14F-4D97-AF65-F5344CB8AC3E}">
        <p14:creationId xmlns:p14="http://schemas.microsoft.com/office/powerpoint/2010/main" val="3809970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372F8-47E7-0403-493A-DBBCD9018C07}"/>
              </a:ext>
            </a:extLst>
          </p:cNvPr>
          <p:cNvSpPr txBox="1"/>
          <p:nvPr/>
        </p:nvSpPr>
        <p:spPr>
          <a:xfrm>
            <a:off x="685800" y="14348"/>
            <a:ext cx="10515600" cy="707886"/>
          </a:xfrm>
          <a:prstGeom prst="rect">
            <a:avLst/>
          </a:prstGeom>
          <a:noFill/>
        </p:spPr>
        <p:txBody>
          <a:bodyPr wrap="square">
            <a:spAutoFit/>
          </a:bodyPr>
          <a:lstStyle/>
          <a:p>
            <a:r>
              <a:rPr lang="en-US" sz="4000" b="1" dirty="0">
                <a:solidFill>
                  <a:srgbClr val="FF0000"/>
                </a:solidFill>
              </a:rPr>
              <a:t>Relevance And Real-World Application</a:t>
            </a:r>
            <a:endParaRPr lang="en-IN" sz="4000" b="1" dirty="0">
              <a:solidFill>
                <a:srgbClr val="FF0000"/>
              </a:solidFill>
            </a:endParaRPr>
          </a:p>
        </p:txBody>
      </p:sp>
      <p:sp>
        <p:nvSpPr>
          <p:cNvPr id="4" name="Google Shape;45;p6">
            <a:extLst>
              <a:ext uri="{FF2B5EF4-FFF2-40B4-BE49-F238E27FC236}">
                <a16:creationId xmlns:a16="http://schemas.microsoft.com/office/drawing/2014/main" id="{C085F393-65A0-5801-16BD-C88971DA1AAF}"/>
              </a:ext>
            </a:extLst>
          </p:cNvPr>
          <p:cNvSpPr/>
          <p:nvPr/>
        </p:nvSpPr>
        <p:spPr>
          <a:xfrm flipV="1">
            <a:off x="762000" y="609599"/>
            <a:ext cx="9372600" cy="52567"/>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2" name="Rectangle 1">
            <a:extLst>
              <a:ext uri="{FF2B5EF4-FFF2-40B4-BE49-F238E27FC236}">
                <a16:creationId xmlns:a16="http://schemas.microsoft.com/office/drawing/2014/main" id="{0C7E5E4C-A26E-6F6D-7957-A5BDBDDA38D1}"/>
              </a:ext>
            </a:extLst>
          </p:cNvPr>
          <p:cNvSpPr>
            <a:spLocks noChangeArrowheads="1"/>
          </p:cNvSpPr>
          <p:nvPr/>
        </p:nvSpPr>
        <p:spPr bwMode="auto">
          <a:xfrm>
            <a:off x="114300" y="846618"/>
            <a:ext cx="1196340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sz="2200" b="1" u="sng" dirty="0">
                <a:solidFill>
                  <a:srgbClr val="0000FF"/>
                </a:solidFill>
              </a:rPr>
              <a:t>Relevance</a:t>
            </a:r>
          </a:p>
          <a:p>
            <a:endParaRPr lang="en-US" dirty="0"/>
          </a:p>
          <a:p>
            <a:pPr lvl="1"/>
            <a:r>
              <a:rPr lang="en-US" b="1" dirty="0"/>
              <a:t>Current Challenges</a:t>
            </a:r>
            <a:r>
              <a:rPr lang="en-US" dirty="0"/>
              <a:t> </a:t>
            </a:r>
          </a:p>
          <a:p>
            <a:pPr lvl="1"/>
            <a:r>
              <a:rPr lang="en-US" dirty="0"/>
              <a:t>Research directly addresses the critical need to secure increasingly digitized and networked infrastructure (CPS) against cyber-physical attacks.</a:t>
            </a:r>
          </a:p>
          <a:p>
            <a:pPr lvl="1"/>
            <a:r>
              <a:rPr lang="en-US" b="1" dirty="0"/>
              <a:t>Industry Needs &amp; Impact</a:t>
            </a:r>
            <a:r>
              <a:rPr lang="en-US" dirty="0"/>
              <a:t> </a:t>
            </a:r>
          </a:p>
          <a:p>
            <a:pPr lvl="1"/>
            <a:r>
              <a:rPr lang="en-US" dirty="0"/>
              <a:t>Effective, real-time detection mechanisms are vital to prevent system destabilization and ensure the reliability and stability of physical systems controlled by CPS, especially in critical applications.</a:t>
            </a:r>
          </a:p>
          <a:p>
            <a:pPr lvl="1"/>
            <a:endParaRPr lang="en-US" dirty="0"/>
          </a:p>
          <a:p>
            <a:pPr marL="285750" indent="-285750">
              <a:buFont typeface="Wingdings" panose="05000000000000000000" pitchFamily="2" charset="2"/>
              <a:buChar char="Ø"/>
            </a:pPr>
            <a:r>
              <a:rPr lang="en-US" sz="2200" b="1" u="sng" dirty="0">
                <a:solidFill>
                  <a:srgbClr val="0000FF"/>
                </a:solidFill>
              </a:rPr>
              <a:t>Application in the Real World</a:t>
            </a:r>
          </a:p>
          <a:p>
            <a:endParaRPr lang="en-US" dirty="0">
              <a:solidFill>
                <a:srgbClr val="0000FF"/>
              </a:solidFill>
            </a:endParaRPr>
          </a:p>
          <a:p>
            <a:pPr lvl="1"/>
            <a:r>
              <a:rPr lang="en-US" b="1" dirty="0"/>
              <a:t>Implementation Contexts</a:t>
            </a:r>
          </a:p>
          <a:p>
            <a:pPr lvl="1"/>
            <a:r>
              <a:rPr lang="en-US" dirty="0"/>
              <a:t>Discussed methods apply to CPS security, including industrial control and smart grids (e.g., DC Microgrids).</a:t>
            </a:r>
          </a:p>
          <a:p>
            <a:pPr lvl="1"/>
            <a:r>
              <a:rPr lang="en-US" b="1" dirty="0"/>
              <a:t>Use Cases</a:t>
            </a:r>
            <a:r>
              <a:rPr lang="en-US" dirty="0"/>
              <a:t> </a:t>
            </a:r>
          </a:p>
          <a:p>
            <a:pPr lvl="1"/>
            <a:r>
              <a:rPr lang="en-US" dirty="0"/>
              <a:t>Physical security, critical infrastructure monitoring, traffic systems, etc.</a:t>
            </a:r>
          </a:p>
          <a:p>
            <a:pPr lvl="1"/>
            <a:r>
              <a:rPr lang="en-US" b="1" dirty="0"/>
              <a:t>Scalability &amp; Feasibility Challenges</a:t>
            </a:r>
            <a:r>
              <a:rPr lang="en-US" dirty="0"/>
              <a:t> </a:t>
            </a:r>
          </a:p>
          <a:p>
            <a:pPr marL="742950" lvl="1" indent="-285750">
              <a:buFont typeface="Arial" panose="020B0604020202020204" pitchFamily="34" charset="0"/>
              <a:buChar char="•"/>
            </a:pPr>
            <a:r>
              <a:rPr lang="en-US" dirty="0"/>
              <a:t>Integration: Security solutions must fit within complex, potentially heterogeneous CPS architectures.</a:t>
            </a:r>
          </a:p>
          <a:p>
            <a:pPr marL="742950" lvl="1" indent="-285750">
              <a:buFont typeface="Arial" panose="020B0604020202020204" pitchFamily="34" charset="0"/>
              <a:buChar char="•"/>
            </a:pPr>
            <a:r>
              <a:rPr lang="en-US" dirty="0"/>
              <a:t>Computational Demand: Real-time systems require low-demand detection methods. (Implies complex AI/computationally heavy methods face challenges).</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0224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7"/>
          <p:cNvSpPr/>
          <p:nvPr/>
        </p:nvSpPr>
        <p:spPr>
          <a:xfrm>
            <a:off x="2057400" y="687300"/>
            <a:ext cx="7620000" cy="36600"/>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53" name="Google Shape;53;p7"/>
          <p:cNvSpPr txBox="1"/>
          <p:nvPr/>
        </p:nvSpPr>
        <p:spPr>
          <a:xfrm>
            <a:off x="3352800" y="0"/>
            <a:ext cx="44196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4000" b="1" dirty="0">
                <a:solidFill>
                  <a:srgbClr val="FF0000"/>
                </a:solidFill>
                <a:latin typeface="Trebuchet MS"/>
                <a:ea typeface="Trebuchet MS"/>
                <a:cs typeface="Trebuchet MS"/>
                <a:sym typeface="Trebuchet MS"/>
              </a:rPr>
              <a:t>High-level design</a:t>
            </a:r>
            <a:endParaRPr lang="en-US" sz="4000" b="1" dirty="0"/>
          </a:p>
        </p:txBody>
      </p:sp>
      <p:pic>
        <p:nvPicPr>
          <p:cNvPr id="3" name="Picture 2">
            <a:extLst>
              <a:ext uri="{FF2B5EF4-FFF2-40B4-BE49-F238E27FC236}">
                <a16:creationId xmlns:a16="http://schemas.microsoft.com/office/drawing/2014/main" id="{EF30DF36-D777-5602-4B26-2E1FC64902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838200"/>
            <a:ext cx="9601200" cy="5695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06E5AC-E1A4-F499-7FFD-E9EAF92BA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0" y="762000"/>
            <a:ext cx="5703525" cy="2743201"/>
          </a:xfrm>
          <a:prstGeom prst="rect">
            <a:avLst/>
          </a:prstGeom>
        </p:spPr>
      </p:pic>
      <p:sp>
        <p:nvSpPr>
          <p:cNvPr id="4" name="Google Shape;60;p8">
            <a:extLst>
              <a:ext uri="{FF2B5EF4-FFF2-40B4-BE49-F238E27FC236}">
                <a16:creationId xmlns:a16="http://schemas.microsoft.com/office/drawing/2014/main" id="{05358457-654D-2352-1F48-B31997331260}"/>
              </a:ext>
            </a:extLst>
          </p:cNvPr>
          <p:cNvSpPr/>
          <p:nvPr/>
        </p:nvSpPr>
        <p:spPr>
          <a:xfrm rot="16200000" flipV="1">
            <a:off x="2536305" y="3633586"/>
            <a:ext cx="6400800" cy="48027"/>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pic>
        <p:nvPicPr>
          <p:cNvPr id="6" name="Picture 5">
            <a:extLst>
              <a:ext uri="{FF2B5EF4-FFF2-40B4-BE49-F238E27FC236}">
                <a16:creationId xmlns:a16="http://schemas.microsoft.com/office/drawing/2014/main" id="{7FA2C8DE-9316-F276-395B-54E7B1F6E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6978" y="762000"/>
            <a:ext cx="6425855" cy="2745997"/>
          </a:xfrm>
          <a:prstGeom prst="rect">
            <a:avLst/>
          </a:prstGeom>
        </p:spPr>
      </p:pic>
      <p:sp>
        <p:nvSpPr>
          <p:cNvPr id="7" name="Rectangle 1">
            <a:extLst>
              <a:ext uri="{FF2B5EF4-FFF2-40B4-BE49-F238E27FC236}">
                <a16:creationId xmlns:a16="http://schemas.microsoft.com/office/drawing/2014/main" id="{E987538E-3A05-5D17-5316-E6A8F90B544F}"/>
              </a:ext>
            </a:extLst>
          </p:cNvPr>
          <p:cNvSpPr>
            <a:spLocks noChangeArrowheads="1"/>
          </p:cNvSpPr>
          <p:nvPr/>
        </p:nvSpPr>
        <p:spPr bwMode="auto">
          <a:xfrm>
            <a:off x="381000" y="4304437"/>
            <a:ext cx="4572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FF"/>
                </a:solidFill>
                <a:effectLst/>
                <a:latin typeface="Arial" panose="020B0604020202020204" pitchFamily="34" charset="0"/>
              </a:rPr>
              <a:t>A System Administrator manages Raw Video Storage. An FFmpeg Streamer uses these video files. Firebase/Twilio APIs send SMS/Email alerts derived from the system to Security Personnel.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0000FF"/>
              </a:solidFill>
              <a:effectLst/>
              <a:latin typeface="Arial" panose="020B0604020202020204" pitchFamily="34" charset="0"/>
            </a:endParaRPr>
          </a:p>
        </p:txBody>
      </p:sp>
      <p:sp>
        <p:nvSpPr>
          <p:cNvPr id="9" name="TextBox 8">
            <a:extLst>
              <a:ext uri="{FF2B5EF4-FFF2-40B4-BE49-F238E27FC236}">
                <a16:creationId xmlns:a16="http://schemas.microsoft.com/office/drawing/2014/main" id="{B1BB4A06-1D4E-8690-25A1-BDCB90946AC7}"/>
              </a:ext>
            </a:extLst>
          </p:cNvPr>
          <p:cNvSpPr txBox="1"/>
          <p:nvPr/>
        </p:nvSpPr>
        <p:spPr>
          <a:xfrm>
            <a:off x="6324600" y="4304437"/>
            <a:ext cx="5424870" cy="1477328"/>
          </a:xfrm>
          <a:prstGeom prst="rect">
            <a:avLst/>
          </a:prstGeom>
          <a:noFill/>
        </p:spPr>
        <p:txBody>
          <a:bodyPr wrap="square">
            <a:spAutoFit/>
          </a:bodyPr>
          <a:lstStyle/>
          <a:p>
            <a:r>
              <a:rPr lang="en-US" b="1" dirty="0">
                <a:solidFill>
                  <a:srgbClr val="0000FF"/>
                </a:solidFill>
              </a:rPr>
              <a:t>A System Administrator manages the MediaMTX RTSP Server and Raw Video Storage. The FFmpeg Streamer takes video files from storage and sends an RTSP stream via the MediaMTX server to an external Stream Consumer.</a:t>
            </a:r>
            <a:endParaRPr lang="en-IN" b="1" dirty="0">
              <a:solidFill>
                <a:srgbClr val="0000FF"/>
              </a:solidFill>
            </a:endParaRPr>
          </a:p>
        </p:txBody>
      </p:sp>
    </p:spTree>
    <p:extLst>
      <p:ext uri="{BB962C8B-B14F-4D97-AF65-F5344CB8AC3E}">
        <p14:creationId xmlns:p14="http://schemas.microsoft.com/office/powerpoint/2010/main" val="1965992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0;p8">
            <a:extLst>
              <a:ext uri="{FF2B5EF4-FFF2-40B4-BE49-F238E27FC236}">
                <a16:creationId xmlns:a16="http://schemas.microsoft.com/office/drawing/2014/main" id="{2CEEF0DD-E989-B497-3894-151D48FA35E8}"/>
              </a:ext>
            </a:extLst>
          </p:cNvPr>
          <p:cNvSpPr/>
          <p:nvPr/>
        </p:nvSpPr>
        <p:spPr>
          <a:xfrm rot="16200000" flipV="1">
            <a:off x="2536305" y="3633586"/>
            <a:ext cx="6400800" cy="48027"/>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9888F32A-AE27-04D6-DDE5-16EF3AE855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14" y="891434"/>
            <a:ext cx="5688677" cy="2792730"/>
          </a:xfrm>
          <a:prstGeom prst="rect">
            <a:avLst/>
          </a:prstGeom>
        </p:spPr>
      </p:pic>
      <p:pic>
        <p:nvPicPr>
          <p:cNvPr id="6" name="Picture 5">
            <a:extLst>
              <a:ext uri="{FF2B5EF4-FFF2-40B4-BE49-F238E27FC236}">
                <a16:creationId xmlns:a16="http://schemas.microsoft.com/office/drawing/2014/main" id="{0FF424EB-EE73-CBC5-E25C-739E94109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0718" y="1752600"/>
            <a:ext cx="6431281" cy="1242166"/>
          </a:xfrm>
          <a:prstGeom prst="rect">
            <a:avLst/>
          </a:prstGeom>
        </p:spPr>
      </p:pic>
      <p:sp>
        <p:nvSpPr>
          <p:cNvPr id="8" name="TextBox 7">
            <a:extLst>
              <a:ext uri="{FF2B5EF4-FFF2-40B4-BE49-F238E27FC236}">
                <a16:creationId xmlns:a16="http://schemas.microsoft.com/office/drawing/2014/main" id="{C982195A-494F-BD7C-04A8-35324CF6890D}"/>
              </a:ext>
            </a:extLst>
          </p:cNvPr>
          <p:cNvSpPr txBox="1"/>
          <p:nvPr/>
        </p:nvSpPr>
        <p:spPr>
          <a:xfrm>
            <a:off x="197459" y="4245097"/>
            <a:ext cx="5400509" cy="2031325"/>
          </a:xfrm>
          <a:prstGeom prst="rect">
            <a:avLst/>
          </a:prstGeom>
          <a:noFill/>
        </p:spPr>
        <p:txBody>
          <a:bodyPr wrap="square">
            <a:spAutoFit/>
          </a:bodyPr>
          <a:lstStyle/>
          <a:p>
            <a:r>
              <a:rPr lang="en-US" b="1" dirty="0">
                <a:solidFill>
                  <a:srgbClr val="0000FF"/>
                </a:solidFill>
              </a:rPr>
              <a:t>An external FFmpeg streamer sends an RTSP stream to the Stream Consumer (OpenCV). Raw frames go to the Frame Pre-processor, which outputs grayscale frames to the Motion Extractor and raw/resized frames to the Integrity Verifier. A System Administrator oversees this.</a:t>
            </a:r>
            <a:endParaRPr lang="en-IN" b="1" dirty="0">
              <a:solidFill>
                <a:srgbClr val="0000FF"/>
              </a:solidFill>
            </a:endParaRPr>
          </a:p>
        </p:txBody>
      </p:sp>
      <p:sp>
        <p:nvSpPr>
          <p:cNvPr id="10" name="TextBox 9">
            <a:extLst>
              <a:ext uri="{FF2B5EF4-FFF2-40B4-BE49-F238E27FC236}">
                <a16:creationId xmlns:a16="http://schemas.microsoft.com/office/drawing/2014/main" id="{1E2BD0CE-CF31-803E-8BC4-EFBE56B91A5D}"/>
              </a:ext>
            </a:extLst>
          </p:cNvPr>
          <p:cNvSpPr txBox="1"/>
          <p:nvPr/>
        </p:nvSpPr>
        <p:spPr>
          <a:xfrm>
            <a:off x="5929058" y="4245097"/>
            <a:ext cx="6094602" cy="1477328"/>
          </a:xfrm>
          <a:prstGeom prst="rect">
            <a:avLst/>
          </a:prstGeom>
          <a:noFill/>
        </p:spPr>
        <p:txBody>
          <a:bodyPr wrap="square">
            <a:spAutoFit/>
          </a:bodyPr>
          <a:lstStyle/>
          <a:p>
            <a:r>
              <a:rPr lang="en-US" b="1" dirty="0">
                <a:solidFill>
                  <a:srgbClr val="0000FF"/>
                </a:solidFill>
              </a:rPr>
              <a:t>Pre-processed frames go to an Integrity Verifier (SHA-256 hash) and a Motion Feature Extractor (Optical Flow). The Verifier checks a hash log for frame reuse. The Extractor sends motion vectors to storage and a Replay Detector. Both detectors flag anomalies.</a:t>
            </a:r>
            <a:endParaRPr lang="en-IN" b="1" dirty="0">
              <a:solidFill>
                <a:srgbClr val="0000FF"/>
              </a:solidFill>
            </a:endParaRPr>
          </a:p>
        </p:txBody>
      </p:sp>
    </p:spTree>
    <p:extLst>
      <p:ext uri="{BB962C8B-B14F-4D97-AF65-F5344CB8AC3E}">
        <p14:creationId xmlns:p14="http://schemas.microsoft.com/office/powerpoint/2010/main" val="404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0;p8">
            <a:extLst>
              <a:ext uri="{FF2B5EF4-FFF2-40B4-BE49-F238E27FC236}">
                <a16:creationId xmlns:a16="http://schemas.microsoft.com/office/drawing/2014/main" id="{E69F0DE5-379E-2456-13EA-40C52FC25C77}"/>
              </a:ext>
            </a:extLst>
          </p:cNvPr>
          <p:cNvSpPr/>
          <p:nvPr/>
        </p:nvSpPr>
        <p:spPr>
          <a:xfrm rot="16200000" flipV="1">
            <a:off x="2536305" y="3633586"/>
            <a:ext cx="6400800" cy="48027"/>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73FF1F5C-614B-23AA-DBEE-8160A6A02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14400"/>
            <a:ext cx="5712691" cy="1577340"/>
          </a:xfrm>
          <a:prstGeom prst="rect">
            <a:avLst/>
          </a:prstGeom>
        </p:spPr>
      </p:pic>
      <p:pic>
        <p:nvPicPr>
          <p:cNvPr id="6" name="Picture 5">
            <a:extLst>
              <a:ext uri="{FF2B5EF4-FFF2-40B4-BE49-F238E27FC236}">
                <a16:creationId xmlns:a16="http://schemas.microsoft.com/office/drawing/2014/main" id="{AC0E53C2-D7C5-1B57-C929-71A51CA419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0719" y="914400"/>
            <a:ext cx="6431281" cy="2918460"/>
          </a:xfrm>
          <a:prstGeom prst="rect">
            <a:avLst/>
          </a:prstGeom>
        </p:spPr>
      </p:pic>
      <p:sp>
        <p:nvSpPr>
          <p:cNvPr id="8" name="TextBox 7">
            <a:extLst>
              <a:ext uri="{FF2B5EF4-FFF2-40B4-BE49-F238E27FC236}">
                <a16:creationId xmlns:a16="http://schemas.microsoft.com/office/drawing/2014/main" id="{5F8FA503-F4F8-DDF7-3B06-C3BD23232C5A}"/>
              </a:ext>
            </a:extLst>
          </p:cNvPr>
          <p:cNvSpPr txBox="1"/>
          <p:nvPr/>
        </p:nvSpPr>
        <p:spPr>
          <a:xfrm>
            <a:off x="457200" y="4366261"/>
            <a:ext cx="5021931" cy="1754326"/>
          </a:xfrm>
          <a:prstGeom prst="rect">
            <a:avLst/>
          </a:prstGeom>
          <a:noFill/>
        </p:spPr>
        <p:txBody>
          <a:bodyPr wrap="square">
            <a:spAutoFit/>
          </a:bodyPr>
          <a:lstStyle/>
          <a:p>
            <a:r>
              <a:rPr lang="en-US" b="1" dirty="0">
                <a:solidFill>
                  <a:srgbClr val="0000FF"/>
                </a:solidFill>
              </a:rPr>
              <a:t>An external Attack Detector triggers an Alerting Module and a Logging Service. The Alerting Module sends notification requests to Security Personnel, while the Logging Service writes details to an external Alert/Event Log.</a:t>
            </a:r>
            <a:endParaRPr lang="en-IN" b="1" dirty="0">
              <a:solidFill>
                <a:srgbClr val="0000FF"/>
              </a:solidFill>
            </a:endParaRPr>
          </a:p>
        </p:txBody>
      </p:sp>
      <p:sp>
        <p:nvSpPr>
          <p:cNvPr id="9" name="Rectangle 1">
            <a:extLst>
              <a:ext uri="{FF2B5EF4-FFF2-40B4-BE49-F238E27FC236}">
                <a16:creationId xmlns:a16="http://schemas.microsoft.com/office/drawing/2014/main" id="{2C345750-004B-71FF-33B6-89856ACD3478}"/>
              </a:ext>
            </a:extLst>
          </p:cNvPr>
          <p:cNvSpPr>
            <a:spLocks noChangeArrowheads="1"/>
          </p:cNvSpPr>
          <p:nvPr/>
        </p:nvSpPr>
        <p:spPr bwMode="auto">
          <a:xfrm>
            <a:off x="6781800" y="4290061"/>
            <a:ext cx="4724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FF"/>
                </a:solidFill>
                <a:effectLst/>
                <a:latin typeface="Arial" panose="020B0604020202020204" pitchFamily="34" charset="0"/>
              </a:rPr>
              <a:t>Motion vectors feed the Replay Detector (AI-HTM), using a model from HTM Storage. An Integrity Verifier provides a frame reuse flag. Both motion and frame reuse anomaly flags go to the Attack Detection Aggregator, which triggers logging and the alerting module.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0000FF"/>
              </a:solidFill>
              <a:effectLst/>
              <a:latin typeface="Arial" panose="020B0604020202020204" pitchFamily="34" charset="0"/>
            </a:endParaRPr>
          </a:p>
        </p:txBody>
      </p:sp>
    </p:spTree>
    <p:extLst>
      <p:ext uri="{BB962C8B-B14F-4D97-AF65-F5344CB8AC3E}">
        <p14:creationId xmlns:p14="http://schemas.microsoft.com/office/powerpoint/2010/main" val="1912273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5455C-93C7-F843-4633-99CAA6A67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12192000" cy="1074420"/>
          </a:xfrm>
          <a:prstGeom prst="rect">
            <a:avLst/>
          </a:prstGeom>
        </p:spPr>
      </p:pic>
      <p:sp>
        <p:nvSpPr>
          <p:cNvPr id="5" name="TextBox 4">
            <a:extLst>
              <a:ext uri="{FF2B5EF4-FFF2-40B4-BE49-F238E27FC236}">
                <a16:creationId xmlns:a16="http://schemas.microsoft.com/office/drawing/2014/main" id="{6785B8C4-99B8-E9CA-F672-F47E3A0CDD38}"/>
              </a:ext>
            </a:extLst>
          </p:cNvPr>
          <p:cNvSpPr txBox="1"/>
          <p:nvPr/>
        </p:nvSpPr>
        <p:spPr>
          <a:xfrm>
            <a:off x="3124200" y="3200400"/>
            <a:ext cx="6094602" cy="1754326"/>
          </a:xfrm>
          <a:prstGeom prst="rect">
            <a:avLst/>
          </a:prstGeom>
          <a:noFill/>
        </p:spPr>
        <p:txBody>
          <a:bodyPr wrap="square">
            <a:spAutoFit/>
          </a:bodyPr>
          <a:lstStyle/>
          <a:p>
            <a:r>
              <a:rPr lang="en-US" b="1" dirty="0">
                <a:solidFill>
                  <a:srgbClr val="0000FF"/>
                </a:solidFill>
              </a:rPr>
              <a:t>The Motion Extractor feeds the Optical Flow Store, which provides training data for the HTM Model Storage. The Integrity Verifier populates the Frame Hash Log. The Logging Service writes to the Alert/Event Log. The Replay Detector utilizes the stored HTM model.</a:t>
            </a:r>
            <a:endParaRPr lang="en-IN" b="1" dirty="0">
              <a:solidFill>
                <a:srgbClr val="0000FF"/>
              </a:solidFill>
            </a:endParaRPr>
          </a:p>
        </p:txBody>
      </p:sp>
    </p:spTree>
    <p:extLst>
      <p:ext uri="{BB962C8B-B14F-4D97-AF65-F5344CB8AC3E}">
        <p14:creationId xmlns:p14="http://schemas.microsoft.com/office/powerpoint/2010/main" val="577732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3EA1C0-1E87-816D-625F-81F25C16184A}"/>
              </a:ext>
            </a:extLst>
          </p:cNvPr>
          <p:cNvSpPr txBox="1"/>
          <p:nvPr/>
        </p:nvSpPr>
        <p:spPr>
          <a:xfrm>
            <a:off x="3657600" y="152400"/>
            <a:ext cx="4342002" cy="707886"/>
          </a:xfrm>
          <a:prstGeom prst="rect">
            <a:avLst/>
          </a:prstGeom>
          <a:noFill/>
        </p:spPr>
        <p:txBody>
          <a:bodyPr wrap="square">
            <a:spAutoFit/>
          </a:bodyPr>
          <a:lstStyle/>
          <a:p>
            <a:pPr algn="r" eaLnBrk="0" hangingPunct="0">
              <a:defRPr/>
            </a:pPr>
            <a:r>
              <a:rPr lang="en-US" sz="4000" b="1" dirty="0">
                <a:solidFill>
                  <a:srgbClr val="FF0000"/>
                </a:solidFill>
                <a:latin typeface="Trebuchet MS" pitchFamily="34" charset="0"/>
                <a:sym typeface="Trebuchet MS"/>
              </a:rPr>
              <a:t>Project Workflow</a:t>
            </a:r>
          </a:p>
        </p:txBody>
      </p:sp>
      <p:sp>
        <p:nvSpPr>
          <p:cNvPr id="4" name="Rectangle 3">
            <a:extLst>
              <a:ext uri="{FF2B5EF4-FFF2-40B4-BE49-F238E27FC236}">
                <a16:creationId xmlns:a16="http://schemas.microsoft.com/office/drawing/2014/main" id="{56246F4A-ABD1-C0FE-2A02-14997B06501E}"/>
              </a:ext>
            </a:extLst>
          </p:cNvPr>
          <p:cNvSpPr>
            <a:spLocks noChangeArrowheads="1"/>
          </p:cNvSpPr>
          <p:nvPr/>
        </p:nvSpPr>
        <p:spPr bwMode="auto">
          <a:xfrm>
            <a:off x="2018601" y="842029"/>
            <a:ext cx="7620000" cy="36513"/>
          </a:xfrm>
          <a:prstGeom prst="rect">
            <a:avLst/>
          </a:prstGeom>
          <a:solidFill>
            <a:srgbClr val="33CCCC"/>
          </a:solidFill>
          <a:ln w="9525">
            <a:noFill/>
            <a:miter lim="800000"/>
            <a:headEnd/>
            <a:tailEnd/>
          </a:ln>
        </p:spPr>
        <p:txBody>
          <a:bodyPr wrap="none" anchor="ctr"/>
          <a:lstStyle/>
          <a:p>
            <a:endParaRPr lang="en-US"/>
          </a:p>
        </p:txBody>
      </p:sp>
      <p:pic>
        <p:nvPicPr>
          <p:cNvPr id="8" name="Picture 7">
            <a:extLst>
              <a:ext uri="{FF2B5EF4-FFF2-40B4-BE49-F238E27FC236}">
                <a16:creationId xmlns:a16="http://schemas.microsoft.com/office/drawing/2014/main" id="{4FCABB84-43D4-9CD2-26DD-21D942C6FE7E}"/>
              </a:ext>
            </a:extLst>
          </p:cNvPr>
          <p:cNvPicPr>
            <a:picLocks noChangeAspect="1"/>
          </p:cNvPicPr>
          <p:nvPr/>
        </p:nvPicPr>
        <p:blipFill>
          <a:blip r:embed="rId2"/>
          <a:stretch>
            <a:fillRect/>
          </a:stretch>
        </p:blipFill>
        <p:spPr>
          <a:xfrm>
            <a:off x="1676400" y="915055"/>
            <a:ext cx="8763000" cy="5942945"/>
          </a:xfrm>
          <a:prstGeom prst="rect">
            <a:avLst/>
          </a:prstGeom>
        </p:spPr>
      </p:pic>
    </p:spTree>
    <p:extLst>
      <p:ext uri="{BB962C8B-B14F-4D97-AF65-F5344CB8AC3E}">
        <p14:creationId xmlns:p14="http://schemas.microsoft.com/office/powerpoint/2010/main" val="4006949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8"/>
          <p:cNvSpPr/>
          <p:nvPr/>
        </p:nvSpPr>
        <p:spPr>
          <a:xfrm>
            <a:off x="2209800" y="727843"/>
            <a:ext cx="7620000" cy="36513"/>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2" name="Google Shape;53;p7">
            <a:extLst>
              <a:ext uri="{FF2B5EF4-FFF2-40B4-BE49-F238E27FC236}">
                <a16:creationId xmlns:a16="http://schemas.microsoft.com/office/drawing/2014/main" id="{4AD8EAA6-9264-448D-B05D-A7D097EAA502}"/>
              </a:ext>
            </a:extLst>
          </p:cNvPr>
          <p:cNvSpPr txBox="1"/>
          <p:nvPr/>
        </p:nvSpPr>
        <p:spPr>
          <a:xfrm>
            <a:off x="2514600" y="26914"/>
            <a:ext cx="5486400" cy="461700"/>
          </a:xfrm>
          <a:prstGeom prst="rect">
            <a:avLst/>
          </a:prstGeom>
          <a:noFill/>
          <a:ln>
            <a:noFill/>
          </a:ln>
        </p:spPr>
        <p:txBody>
          <a:bodyPr spcFirstLastPara="1" wrap="square" lIns="91425" tIns="45700" rIns="91425" bIns="45700" anchor="t" anchorCtr="0">
            <a:noAutofit/>
          </a:bodyPr>
          <a:lstStyle/>
          <a:p>
            <a:pPr marL="342900" indent="-342900" algn="r">
              <a:spcBef>
                <a:spcPts val="0"/>
              </a:spcBef>
              <a:spcAft>
                <a:spcPts val="0"/>
              </a:spcAft>
            </a:pPr>
            <a:r>
              <a:rPr lang="en-US" sz="4000" b="1" dirty="0">
                <a:solidFill>
                  <a:srgbClr val="FF0000"/>
                </a:solidFill>
                <a:latin typeface="Trebuchet MS"/>
                <a:ea typeface="Trebuchet MS"/>
                <a:cs typeface="Trebuchet MS"/>
                <a:sym typeface="Trebuchet MS"/>
              </a:rPr>
              <a:t>Design methodology</a:t>
            </a:r>
            <a:endParaRPr lang="en-US" sz="4000" b="1" dirty="0"/>
          </a:p>
        </p:txBody>
      </p:sp>
      <p:sp>
        <p:nvSpPr>
          <p:cNvPr id="5" name="TextBox 4">
            <a:extLst>
              <a:ext uri="{FF2B5EF4-FFF2-40B4-BE49-F238E27FC236}">
                <a16:creationId xmlns:a16="http://schemas.microsoft.com/office/drawing/2014/main" id="{EF805BF0-084D-5383-FE33-E290DDF43C53}"/>
              </a:ext>
            </a:extLst>
          </p:cNvPr>
          <p:cNvSpPr txBox="1"/>
          <p:nvPr/>
        </p:nvSpPr>
        <p:spPr>
          <a:xfrm>
            <a:off x="152400" y="1028686"/>
            <a:ext cx="5638800" cy="5604098"/>
          </a:xfrm>
          <a:prstGeom prst="rect">
            <a:avLst/>
          </a:prstGeom>
          <a:noFill/>
        </p:spPr>
        <p:txBody>
          <a:bodyPr wrap="square">
            <a:spAutoFit/>
          </a:bodyPr>
          <a:lstStyle/>
          <a:p>
            <a:pPr>
              <a:lnSpc>
                <a:spcPct val="150000"/>
              </a:lnSpc>
              <a:buNone/>
            </a:pPr>
            <a:r>
              <a:rPr lang="en-IN" sz="2400" b="1" u="sng" dirty="0">
                <a:solidFill>
                  <a:srgbClr val="0000FF"/>
                </a:solidFill>
              </a:rPr>
              <a:t>Technology Selection:</a:t>
            </a:r>
            <a:endParaRPr lang="en-IN" sz="2400" u="sng" dirty="0">
              <a:solidFill>
                <a:srgbClr val="0000FF"/>
              </a:solidFill>
            </a:endParaRPr>
          </a:p>
          <a:p>
            <a:pPr>
              <a:lnSpc>
                <a:spcPct val="150000"/>
              </a:lnSpc>
              <a:buFont typeface="Arial" panose="020B0604020202020204" pitchFamily="34" charset="0"/>
              <a:buChar char="•"/>
            </a:pPr>
            <a:r>
              <a:rPr lang="en-IN" sz="2000" b="1" dirty="0">
                <a:solidFill>
                  <a:srgbClr val="0000FF"/>
                </a:solidFill>
              </a:rPr>
              <a:t>Language:</a:t>
            </a:r>
            <a:r>
              <a:rPr lang="en-IN" sz="2000" dirty="0">
                <a:solidFill>
                  <a:srgbClr val="0000FF"/>
                </a:solidFill>
              </a:rPr>
              <a:t> Python</a:t>
            </a:r>
          </a:p>
          <a:p>
            <a:pPr>
              <a:lnSpc>
                <a:spcPct val="150000"/>
              </a:lnSpc>
              <a:buFont typeface="Arial" panose="020B0604020202020204" pitchFamily="34" charset="0"/>
              <a:buChar char="•"/>
            </a:pPr>
            <a:r>
              <a:rPr lang="en-IN" sz="2000" b="1" dirty="0">
                <a:solidFill>
                  <a:srgbClr val="0000FF"/>
                </a:solidFill>
              </a:rPr>
              <a:t>Core Libraries:</a:t>
            </a:r>
            <a:r>
              <a:rPr lang="en-IN" sz="2000" dirty="0">
                <a:solidFill>
                  <a:srgbClr val="0000FF"/>
                </a:solidFill>
              </a:rPr>
              <a:t> OpenCV, NumPy</a:t>
            </a:r>
          </a:p>
          <a:p>
            <a:pPr>
              <a:lnSpc>
                <a:spcPct val="150000"/>
              </a:lnSpc>
              <a:buFont typeface="Arial" panose="020B0604020202020204" pitchFamily="34" charset="0"/>
              <a:buChar char="•"/>
            </a:pPr>
            <a:r>
              <a:rPr lang="en-IN" sz="2000" b="1" dirty="0">
                <a:solidFill>
                  <a:srgbClr val="0000FF"/>
                </a:solidFill>
              </a:rPr>
              <a:t>Streaming/Simulation:</a:t>
            </a:r>
            <a:r>
              <a:rPr lang="en-IN" sz="2000" dirty="0">
                <a:solidFill>
                  <a:srgbClr val="0000FF"/>
                </a:solidFill>
              </a:rPr>
              <a:t> FFmpeg, MediaMTX</a:t>
            </a:r>
          </a:p>
          <a:p>
            <a:pPr>
              <a:lnSpc>
                <a:spcPct val="150000"/>
              </a:lnSpc>
              <a:buFont typeface="Arial" panose="020B0604020202020204" pitchFamily="34" charset="0"/>
              <a:buChar char="•"/>
            </a:pPr>
            <a:r>
              <a:rPr lang="en-IN" sz="2000" b="1" dirty="0">
                <a:solidFill>
                  <a:srgbClr val="0000FF"/>
                </a:solidFill>
              </a:rPr>
              <a:t>Detection:</a:t>
            </a:r>
            <a:r>
              <a:rPr lang="en-IN" sz="2000" dirty="0">
                <a:solidFill>
                  <a:srgbClr val="0000FF"/>
                </a:solidFill>
              </a:rPr>
              <a:t> </a:t>
            </a:r>
          </a:p>
          <a:p>
            <a:pPr marL="742950" lvl="1" indent="-285750">
              <a:lnSpc>
                <a:spcPct val="150000"/>
              </a:lnSpc>
              <a:buFont typeface="Arial" panose="020B0604020202020204" pitchFamily="34" charset="0"/>
              <a:buChar char="•"/>
            </a:pPr>
            <a:r>
              <a:rPr lang="en-IN" sz="2000" dirty="0">
                <a:solidFill>
                  <a:srgbClr val="0000FF"/>
                </a:solidFill>
              </a:rPr>
              <a:t>Optical Flow (Farneback via OpenCV)</a:t>
            </a:r>
          </a:p>
          <a:p>
            <a:pPr marL="742950" lvl="1" indent="-285750">
              <a:lnSpc>
                <a:spcPct val="150000"/>
              </a:lnSpc>
              <a:buFont typeface="Arial" panose="020B0604020202020204" pitchFamily="34" charset="0"/>
              <a:buChar char="•"/>
            </a:pPr>
            <a:r>
              <a:rPr lang="en-IN" sz="2000" dirty="0">
                <a:solidFill>
                  <a:srgbClr val="0000FF"/>
                </a:solidFill>
              </a:rPr>
              <a:t>HTM (Hierarchical Temporal Memory - specific library TBD)</a:t>
            </a:r>
          </a:p>
          <a:p>
            <a:pPr marL="742950" lvl="1" indent="-285750">
              <a:lnSpc>
                <a:spcPct val="150000"/>
              </a:lnSpc>
              <a:buFont typeface="Arial" panose="020B0604020202020204" pitchFamily="34" charset="0"/>
              <a:buChar char="•"/>
            </a:pPr>
            <a:r>
              <a:rPr lang="en-IN" sz="2000" dirty="0">
                <a:solidFill>
                  <a:srgbClr val="0000FF"/>
                </a:solidFill>
              </a:rPr>
              <a:t>SHA-256 Hashing</a:t>
            </a:r>
          </a:p>
          <a:p>
            <a:pPr>
              <a:lnSpc>
                <a:spcPct val="150000"/>
              </a:lnSpc>
              <a:buFont typeface="Arial" panose="020B0604020202020204" pitchFamily="34" charset="0"/>
              <a:buChar char="•"/>
            </a:pPr>
            <a:r>
              <a:rPr lang="en-IN" sz="2000" b="1" dirty="0">
                <a:solidFill>
                  <a:srgbClr val="0000FF"/>
                </a:solidFill>
              </a:rPr>
              <a:t>Alerting:</a:t>
            </a:r>
            <a:r>
              <a:rPr lang="en-IN" sz="2000" dirty="0">
                <a:solidFill>
                  <a:srgbClr val="0000FF"/>
                </a:solidFill>
              </a:rPr>
              <a:t> Firebase / Twilio APIs (Planned)</a:t>
            </a:r>
          </a:p>
          <a:p>
            <a:pPr>
              <a:lnSpc>
                <a:spcPct val="150000"/>
              </a:lnSpc>
              <a:buFont typeface="Arial" panose="020B0604020202020204" pitchFamily="34" charset="0"/>
              <a:buChar char="•"/>
            </a:pPr>
            <a:r>
              <a:rPr lang="en-IN" sz="2000" b="1" dirty="0">
                <a:solidFill>
                  <a:srgbClr val="0000FF"/>
                </a:solidFill>
              </a:rPr>
              <a:t>Platform:</a:t>
            </a:r>
            <a:r>
              <a:rPr lang="en-IN" sz="2000" dirty="0">
                <a:solidFill>
                  <a:srgbClr val="0000FF"/>
                </a:solidFill>
              </a:rPr>
              <a:t> Windows 11</a:t>
            </a:r>
          </a:p>
          <a:p>
            <a:pPr algn="just">
              <a:spcBef>
                <a:spcPts val="480"/>
              </a:spcBef>
              <a:spcAft>
                <a:spcPts val="0"/>
              </a:spcAft>
              <a:buClr>
                <a:schemeClr val="dk1"/>
              </a:buClr>
              <a:buSzPts val="1100"/>
            </a:pPr>
            <a:endParaRPr lang="en-US" sz="1800" dirty="0">
              <a:solidFill>
                <a:srgbClr val="0033CC"/>
              </a:solidFill>
              <a:latin typeface="Trebuchet MS"/>
              <a:ea typeface="Trebuchet MS"/>
              <a:cs typeface="Trebuchet MS"/>
              <a:sym typeface="Trebuchet MS"/>
            </a:endParaRPr>
          </a:p>
        </p:txBody>
      </p:sp>
      <p:sp>
        <p:nvSpPr>
          <p:cNvPr id="3" name="Google Shape;60;p8">
            <a:extLst>
              <a:ext uri="{FF2B5EF4-FFF2-40B4-BE49-F238E27FC236}">
                <a16:creationId xmlns:a16="http://schemas.microsoft.com/office/drawing/2014/main" id="{2D169060-D7F3-9829-2D53-9A3877360F2D}"/>
              </a:ext>
            </a:extLst>
          </p:cNvPr>
          <p:cNvSpPr/>
          <p:nvPr/>
        </p:nvSpPr>
        <p:spPr>
          <a:xfrm rot="16200000" flipV="1">
            <a:off x="2842259" y="3825227"/>
            <a:ext cx="5638801" cy="45719"/>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4" name="Rectangle 1">
            <a:extLst>
              <a:ext uri="{FF2B5EF4-FFF2-40B4-BE49-F238E27FC236}">
                <a16:creationId xmlns:a16="http://schemas.microsoft.com/office/drawing/2014/main" id="{4D041120-14E3-70FF-6DD2-4BEFB9301780}"/>
              </a:ext>
            </a:extLst>
          </p:cNvPr>
          <p:cNvSpPr>
            <a:spLocks noChangeArrowheads="1"/>
          </p:cNvSpPr>
          <p:nvPr/>
        </p:nvSpPr>
        <p:spPr bwMode="auto">
          <a:xfrm>
            <a:off x="5834543" y="787524"/>
            <a:ext cx="6392411" cy="659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sng" strike="noStrike" cap="none" normalizeH="0" baseline="0" dirty="0">
                <a:ln>
                  <a:noFill/>
                </a:ln>
                <a:solidFill>
                  <a:srgbClr val="0000FF"/>
                </a:solidFill>
                <a:effectLst/>
                <a:latin typeface="Arial" panose="020B0604020202020204" pitchFamily="34" charset="0"/>
              </a:rPr>
              <a:t>Other Key Project Components:</a:t>
            </a:r>
            <a:endParaRPr kumimoji="0" lang="en-US" altLang="en-US" sz="2400" b="0" i="0" u="sng" strike="noStrike" cap="none" normalizeH="0" baseline="0" dirty="0">
              <a:ln>
                <a:noFill/>
              </a:ln>
              <a:solidFill>
                <a:srgbClr val="0000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rgbClr val="0000FF"/>
                </a:solidFill>
                <a:effectLst/>
                <a:latin typeface="Arial" panose="020B0604020202020204" pitchFamily="34" charset="0"/>
              </a:rPr>
              <a:t>Dataset:</a:t>
            </a:r>
            <a:r>
              <a:rPr kumimoji="0" lang="en-US" altLang="en-US" sz="2000" b="0" i="0" u="none" strike="noStrike" cap="none" normalizeH="0" baseline="0" dirty="0">
                <a:ln>
                  <a:noFill/>
                </a:ln>
                <a:solidFill>
                  <a:srgbClr val="0000FF"/>
                </a:solidFill>
                <a:effectLst/>
                <a:latin typeface="Arial" panose="020B0604020202020204" pitchFamily="34" charset="0"/>
              </a:rPr>
              <a:t> ~50 Crime videos (Normal + Crime segments), processed optical flow .npz files.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rgbClr val="0000FF"/>
                </a:solidFill>
                <a:effectLst/>
                <a:latin typeface="Arial" panose="020B0604020202020204" pitchFamily="34" charset="0"/>
              </a:rPr>
              <a:t>Simulation Setup:</a:t>
            </a:r>
            <a:r>
              <a:rPr kumimoji="0" lang="en-US" altLang="en-US" sz="2000" b="0" i="0" u="none" strike="noStrike" cap="none" normalizeH="0" baseline="0" dirty="0">
                <a:ln>
                  <a:noFill/>
                </a:ln>
                <a:solidFill>
                  <a:srgbClr val="0000FF"/>
                </a:solidFill>
                <a:effectLst/>
                <a:latin typeface="Arial" panose="020B0604020202020204" pitchFamily="34" charset="0"/>
              </a:rPr>
              <a:t> FFmpeg stream -&gt; MediaMTX RTSP Server -&gt; OpenCV consumer. Includes manual replay attack simulation methods (FFmpeg overlay/loop, Python script).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rgbClr val="0000FF"/>
                </a:solidFill>
                <a:effectLst/>
                <a:latin typeface="Arial" panose="020B0604020202020204" pitchFamily="34" charset="0"/>
              </a:rPr>
              <a:t>HTM Model Training:</a:t>
            </a:r>
            <a:r>
              <a:rPr kumimoji="0" lang="en-US" altLang="en-US" sz="2000" b="0" i="0" u="none" strike="noStrike" cap="none" normalizeH="0" baseline="0" dirty="0">
                <a:ln>
                  <a:noFill/>
                </a:ln>
                <a:solidFill>
                  <a:srgbClr val="0000FF"/>
                </a:solidFill>
                <a:effectLst/>
                <a:latin typeface="Arial" panose="020B0604020202020204" pitchFamily="34" charset="0"/>
              </a:rPr>
              <a:t> Requires training on normal optical flow patterns from video data.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rgbClr val="0000FF"/>
                </a:solidFill>
                <a:effectLst/>
                <a:latin typeface="Arial" panose="020B0604020202020204" pitchFamily="34" charset="0"/>
              </a:rPr>
              <a:t>Evaluation Metrics:</a:t>
            </a:r>
            <a:r>
              <a:rPr kumimoji="0" lang="en-US" altLang="en-US" sz="2000" b="0" i="0" u="none" strike="noStrike" cap="none" normalizeH="0" baseline="0" dirty="0">
                <a:ln>
                  <a:noFill/>
                </a:ln>
                <a:solidFill>
                  <a:srgbClr val="0000FF"/>
                </a:solidFill>
                <a:effectLst/>
                <a:latin typeface="Arial" panose="020B0604020202020204" pitchFamily="34" charset="0"/>
              </a:rPr>
              <a:t> Need definition (e.g., TPR, FPR, F1-Score) to measure detection performance.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rgbClr val="0000FF"/>
                </a:solidFill>
                <a:effectLst/>
                <a:latin typeface="Arial" panose="020B0604020202020204" pitchFamily="34" charset="0"/>
              </a:rPr>
              <a:t>Configuration:</a:t>
            </a:r>
            <a:r>
              <a:rPr kumimoji="0" lang="en-US" altLang="en-US" sz="2000" b="0" i="0" u="none" strike="noStrike" cap="none" normalizeH="0" baseline="0" dirty="0">
                <a:ln>
                  <a:noFill/>
                </a:ln>
                <a:solidFill>
                  <a:srgbClr val="0000FF"/>
                </a:solidFill>
                <a:effectLst/>
                <a:latin typeface="Arial" panose="020B0604020202020204" pitchFamily="34" charset="0"/>
              </a:rPr>
              <a:t> Management of paths, thresholds, parameters.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rgbClr val="0000FF"/>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286000" y="597419"/>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142999" y="23072"/>
            <a:ext cx="8534401" cy="1077218"/>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3200" b="1" dirty="0">
                <a:solidFill>
                  <a:srgbClr val="FF0000"/>
                </a:solidFill>
                <a:latin typeface="Trebuchet MS"/>
                <a:ea typeface="Trebuchet MS"/>
                <a:cs typeface="Trebuchet MS"/>
                <a:sym typeface="Trebuchet MS"/>
              </a:rPr>
              <a:t>Project Progress-Data Preprocessing</a:t>
            </a:r>
          </a:p>
          <a:p>
            <a:pPr marL="342900" indent="-342900" algn="r">
              <a:spcBef>
                <a:spcPts val="0"/>
              </a:spcBef>
              <a:spcAft>
                <a:spcPts val="0"/>
              </a:spcAft>
            </a:pPr>
            <a:endParaRPr lang="en-US" sz="3200" b="1" dirty="0"/>
          </a:p>
        </p:txBody>
      </p:sp>
      <p:sp>
        <p:nvSpPr>
          <p:cNvPr id="6" name="Content Placeholder 2"/>
          <p:cNvSpPr txBox="1">
            <a:spLocks/>
          </p:cNvSpPr>
          <p:nvPr/>
        </p:nvSpPr>
        <p:spPr>
          <a:xfrm>
            <a:off x="6991" y="597419"/>
            <a:ext cx="7994009" cy="6135686"/>
          </a:xfrm>
          <a:prstGeom prst="rect">
            <a:avLst/>
          </a:prstGeom>
        </p:spPr>
        <p:txBody>
          <a:bodyPr/>
          <a:lstStyle/>
          <a:p>
            <a:pPr algn="just">
              <a:lnSpc>
                <a:spcPct val="150000"/>
              </a:lnSpc>
              <a:spcBef>
                <a:spcPts val="0"/>
              </a:spcBef>
              <a:spcAft>
                <a:spcPts val="0"/>
              </a:spcAft>
            </a:pPr>
            <a:endParaRPr lang="en-US" sz="1100" dirty="0">
              <a:solidFill>
                <a:srgbClr val="0033CC"/>
              </a:solidFill>
              <a:latin typeface="Trebuchet MS"/>
              <a:ea typeface="Trebuchet MS"/>
              <a:cs typeface="Trebuchet MS"/>
              <a:sym typeface="Trebuchet MS"/>
            </a:endParaRPr>
          </a:p>
        </p:txBody>
      </p:sp>
      <p:sp>
        <p:nvSpPr>
          <p:cNvPr id="9" name="TextBox 8">
            <a:extLst>
              <a:ext uri="{FF2B5EF4-FFF2-40B4-BE49-F238E27FC236}">
                <a16:creationId xmlns:a16="http://schemas.microsoft.com/office/drawing/2014/main" id="{1AB18D23-7C2D-C62B-0ACE-A4C33B255CE1}"/>
              </a:ext>
            </a:extLst>
          </p:cNvPr>
          <p:cNvSpPr txBox="1"/>
          <p:nvPr/>
        </p:nvSpPr>
        <p:spPr>
          <a:xfrm>
            <a:off x="152400" y="619879"/>
            <a:ext cx="11582400" cy="6412012"/>
          </a:xfrm>
          <a:prstGeom prst="rect">
            <a:avLst/>
          </a:prstGeom>
          <a:noFill/>
        </p:spPr>
        <p:txBody>
          <a:bodyPr wrap="square">
            <a:spAutoFit/>
          </a:bodyPr>
          <a:lstStyle/>
          <a:p>
            <a:pPr>
              <a:lnSpc>
                <a:spcPct val="150000"/>
              </a:lnSpc>
            </a:pPr>
            <a:r>
              <a:rPr lang="en-IN" sz="2200" b="1" u="sng" dirty="0">
                <a:solidFill>
                  <a:srgbClr val="0000FF"/>
                </a:solidFill>
              </a:rPr>
              <a:t>Path Initialization</a:t>
            </a:r>
          </a:p>
          <a:p>
            <a:pPr marL="285750" indent="-285750">
              <a:lnSpc>
                <a:spcPct val="150000"/>
              </a:lnSpc>
              <a:buFont typeface="Wingdings" panose="05000000000000000000" pitchFamily="2" charset="2"/>
              <a:buChar char="ü"/>
            </a:pPr>
            <a:r>
              <a:rPr lang="en-IN" dirty="0"/>
              <a:t>Defined output directory: optical_flow_data.</a:t>
            </a:r>
          </a:p>
          <a:p>
            <a:pPr marL="285750" indent="-285750">
              <a:lnSpc>
                <a:spcPct val="150000"/>
              </a:lnSpc>
              <a:buFont typeface="Wingdings" panose="05000000000000000000" pitchFamily="2" charset="2"/>
              <a:buChar char="ü"/>
            </a:pPr>
            <a:r>
              <a:rPr lang="en-IN" dirty="0"/>
              <a:t>Defined input directory: dataset videos.</a:t>
            </a:r>
          </a:p>
          <a:p>
            <a:pPr>
              <a:lnSpc>
                <a:spcPct val="150000"/>
              </a:lnSpc>
            </a:pPr>
            <a:r>
              <a:rPr lang="en-IN" sz="2200" b="1" u="sng" dirty="0">
                <a:solidFill>
                  <a:srgbClr val="0000FF"/>
                </a:solidFill>
              </a:rPr>
              <a:t>Output Directory Creation</a:t>
            </a:r>
          </a:p>
          <a:p>
            <a:pPr marL="285750" indent="-285750">
              <a:lnSpc>
                <a:spcPct val="150000"/>
              </a:lnSpc>
              <a:buFont typeface="Wingdings" panose="05000000000000000000" pitchFamily="2" charset="2"/>
              <a:buChar char="ü"/>
            </a:pPr>
            <a:r>
              <a:rPr lang="en-IN" dirty="0"/>
              <a:t>Ensured the output directory exists or created it if it didn’t.</a:t>
            </a:r>
          </a:p>
          <a:p>
            <a:pPr>
              <a:lnSpc>
                <a:spcPct val="150000"/>
              </a:lnSpc>
            </a:pPr>
            <a:r>
              <a:rPr lang="en-IN" sz="2200" b="1" u="sng" dirty="0">
                <a:solidFill>
                  <a:srgbClr val="0000FF"/>
                </a:solidFill>
              </a:rPr>
              <a:t>Video File Discovery</a:t>
            </a:r>
          </a:p>
          <a:p>
            <a:pPr marL="285750" indent="-285750">
              <a:lnSpc>
                <a:spcPct val="150000"/>
              </a:lnSpc>
              <a:buFont typeface="Wingdings" panose="05000000000000000000" pitchFamily="2" charset="2"/>
              <a:buChar char="ü"/>
            </a:pPr>
            <a:r>
              <a:rPr lang="en-IN" dirty="0"/>
              <a:t>Automatically discovered all video files (.mp4, .avi, .mov) in the input directory.</a:t>
            </a:r>
          </a:p>
          <a:p>
            <a:pPr>
              <a:lnSpc>
                <a:spcPct val="150000"/>
              </a:lnSpc>
            </a:pPr>
            <a:r>
              <a:rPr lang="en-IN" sz="2200" b="1" u="sng" dirty="0">
                <a:solidFill>
                  <a:srgbClr val="0000FF"/>
                </a:solidFill>
              </a:rPr>
              <a:t>Video Processing Loop</a:t>
            </a:r>
          </a:p>
          <a:p>
            <a:pPr marL="285750" indent="-285750">
              <a:lnSpc>
                <a:spcPct val="150000"/>
              </a:lnSpc>
              <a:buFont typeface="Wingdings" panose="05000000000000000000" pitchFamily="2" charset="2"/>
              <a:buChar char="ü"/>
            </a:pPr>
            <a:r>
              <a:rPr lang="en-IN" dirty="0"/>
              <a:t>Opened each video using cv2.VideoCapture.  </a:t>
            </a:r>
          </a:p>
          <a:p>
            <a:pPr marL="285750" indent="-285750">
              <a:lnSpc>
                <a:spcPct val="150000"/>
              </a:lnSpc>
              <a:buFont typeface="Wingdings" panose="05000000000000000000" pitchFamily="2" charset="2"/>
              <a:buChar char="ü"/>
            </a:pPr>
            <a:r>
              <a:rPr lang="en-IN" dirty="0"/>
              <a:t>Read video properties (FPS, resolution) for monitoring.  </a:t>
            </a:r>
          </a:p>
          <a:p>
            <a:pPr marL="285750" indent="-285750">
              <a:lnSpc>
                <a:spcPct val="150000"/>
              </a:lnSpc>
              <a:buFont typeface="Wingdings" panose="05000000000000000000" pitchFamily="2" charset="2"/>
              <a:buChar char="ü"/>
            </a:pPr>
            <a:r>
              <a:rPr lang="en-IN" dirty="0"/>
              <a:t>Resized frames to 640x480 resolution.  </a:t>
            </a:r>
          </a:p>
          <a:p>
            <a:pPr marL="285750" indent="-285750">
              <a:lnSpc>
                <a:spcPct val="150000"/>
              </a:lnSpc>
              <a:buFont typeface="Wingdings" panose="05000000000000000000" pitchFamily="2" charset="2"/>
              <a:buChar char="ü"/>
            </a:pPr>
            <a:r>
              <a:rPr lang="en-IN" dirty="0"/>
              <a:t>Converted frames to grayscale (cv2.cvtColor) for optical flow input.  </a:t>
            </a:r>
          </a:p>
          <a:p>
            <a:pPr marL="285750" indent="-285750">
              <a:lnSpc>
                <a:spcPct val="150000"/>
              </a:lnSpc>
              <a:buFont typeface="Wingdings" panose="05000000000000000000" pitchFamily="2" charset="2"/>
              <a:buChar char="ü"/>
            </a:pPr>
            <a:r>
              <a:rPr lang="en-IN" dirty="0"/>
              <a:t>Computed dense optical flow using cv2.calcOpticalFlowFarneback between consecutive frames.  </a:t>
            </a:r>
          </a:p>
          <a:p>
            <a:pPr marL="285750" indent="-285750">
              <a:lnSpc>
                <a:spcPct val="150000"/>
              </a:lnSpc>
              <a:buFont typeface="Wingdings" panose="05000000000000000000" pitchFamily="2" charset="2"/>
              <a:buChar char="ü"/>
            </a:pPr>
            <a:r>
              <a:rPr lang="en-IN" dirty="0"/>
              <a:t>Stored computed motion vectors as compressed NumPy files (.npz).</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A10C88-A459-C137-98C2-9B308D1516BC}"/>
              </a:ext>
            </a:extLst>
          </p:cNvPr>
          <p:cNvSpPr txBox="1"/>
          <p:nvPr/>
        </p:nvSpPr>
        <p:spPr>
          <a:xfrm>
            <a:off x="1143000" y="0"/>
            <a:ext cx="8610600" cy="1200329"/>
          </a:xfrm>
          <a:prstGeom prst="rect">
            <a:avLst/>
          </a:prstGeom>
          <a:noFill/>
        </p:spPr>
        <p:txBody>
          <a:bodyPr wrap="square">
            <a:spAutoFit/>
          </a:bodyPr>
          <a:lstStyle/>
          <a:p>
            <a:pPr marL="342900" indent="-342900" algn="r">
              <a:spcBef>
                <a:spcPts val="0"/>
              </a:spcBef>
              <a:spcAft>
                <a:spcPts val="0"/>
              </a:spcAft>
            </a:pPr>
            <a:r>
              <a:rPr lang="en-US" sz="3600" b="1" dirty="0">
                <a:solidFill>
                  <a:srgbClr val="FF0000"/>
                </a:solidFill>
                <a:latin typeface="Trebuchet MS"/>
                <a:ea typeface="Trebuchet MS"/>
                <a:cs typeface="Trebuchet MS"/>
                <a:sym typeface="Trebuchet MS"/>
              </a:rPr>
              <a:t>Project Progress-Data Visualization</a:t>
            </a:r>
          </a:p>
          <a:p>
            <a:pPr marL="342900" indent="-342900" algn="r">
              <a:spcBef>
                <a:spcPts val="0"/>
              </a:spcBef>
              <a:spcAft>
                <a:spcPts val="0"/>
              </a:spcAft>
            </a:pPr>
            <a:endParaRPr lang="en-US" sz="3600" b="1" dirty="0"/>
          </a:p>
        </p:txBody>
      </p:sp>
      <p:sp>
        <p:nvSpPr>
          <p:cNvPr id="4" name="Google Shape;60;p8">
            <a:extLst>
              <a:ext uri="{FF2B5EF4-FFF2-40B4-BE49-F238E27FC236}">
                <a16:creationId xmlns:a16="http://schemas.microsoft.com/office/drawing/2014/main" id="{C7A114EB-B1B9-8D04-2F2B-14AAA2C576EB}"/>
              </a:ext>
            </a:extLst>
          </p:cNvPr>
          <p:cNvSpPr/>
          <p:nvPr/>
        </p:nvSpPr>
        <p:spPr>
          <a:xfrm>
            <a:off x="2057400" y="673221"/>
            <a:ext cx="7620000" cy="36513"/>
          </a:xfrm>
          <a:prstGeom prst="rect">
            <a:avLst/>
          </a:prstGeom>
          <a:solidFill>
            <a:srgbClr val="33CCCC"/>
          </a:solidFill>
          <a:ln>
            <a:noFill/>
          </a:ln>
        </p:spPr>
        <p:txBody>
          <a:bodyPr spcFirstLastPara="1" wrap="square" lIns="91425" tIns="45700" rIns="91425" bIns="45700" anchor="ctr" anchorCtr="0">
            <a:noAutofit/>
          </a:bodyPr>
          <a:lstStyle/>
          <a:p>
            <a:pPr>
              <a:spcBef>
                <a:spcPts val="0"/>
              </a:spcBef>
              <a:spcAft>
                <a:spcPts val="0"/>
              </a:spcAft>
              <a:buClr>
                <a:srgbClr val="000000"/>
              </a:buClr>
              <a:buSzPts val="1800"/>
            </a:pPr>
            <a:endParaRPr>
              <a:solidFill>
                <a:schemeClr val="dk1"/>
              </a:solidFill>
              <a:latin typeface="Arial"/>
              <a:ea typeface="Arial"/>
              <a:cs typeface="Arial"/>
              <a:sym typeface="Arial"/>
            </a:endParaRPr>
          </a:p>
        </p:txBody>
      </p:sp>
      <p:sp>
        <p:nvSpPr>
          <p:cNvPr id="6" name="TextBox 5">
            <a:extLst>
              <a:ext uri="{FF2B5EF4-FFF2-40B4-BE49-F238E27FC236}">
                <a16:creationId xmlns:a16="http://schemas.microsoft.com/office/drawing/2014/main" id="{A40000D7-0F8A-AFD8-DD64-7ABBF4C09DAA}"/>
              </a:ext>
            </a:extLst>
          </p:cNvPr>
          <p:cNvSpPr txBox="1"/>
          <p:nvPr/>
        </p:nvSpPr>
        <p:spPr>
          <a:xfrm>
            <a:off x="0" y="600164"/>
            <a:ext cx="12192000" cy="6227346"/>
          </a:xfrm>
          <a:prstGeom prst="rect">
            <a:avLst/>
          </a:prstGeom>
          <a:noFill/>
        </p:spPr>
        <p:txBody>
          <a:bodyPr wrap="square">
            <a:spAutoFit/>
          </a:bodyPr>
          <a:lstStyle/>
          <a:p>
            <a:pPr>
              <a:lnSpc>
                <a:spcPct val="150000"/>
              </a:lnSpc>
            </a:pPr>
            <a:r>
              <a:rPr lang="en-IN" sz="2200" b="1" u="sng" dirty="0">
                <a:solidFill>
                  <a:srgbClr val="0000FF"/>
                </a:solidFill>
              </a:rPr>
              <a:t>Path Initialization</a:t>
            </a:r>
          </a:p>
          <a:p>
            <a:pPr>
              <a:lnSpc>
                <a:spcPct val="150000"/>
              </a:lnSpc>
            </a:pPr>
            <a:r>
              <a:rPr lang="en-IN" dirty="0"/>
              <a:t>Defined paths for loading optical flow .npz files and original videos. Created output directory (visualized_optical_flow).</a:t>
            </a:r>
          </a:p>
          <a:p>
            <a:pPr>
              <a:lnSpc>
                <a:spcPct val="150000"/>
              </a:lnSpc>
            </a:pPr>
            <a:r>
              <a:rPr lang="en-IN" sz="2200" b="1" u="sng" dirty="0">
                <a:solidFill>
                  <a:srgbClr val="0000FF"/>
                </a:solidFill>
              </a:rPr>
              <a:t>File Discovery</a:t>
            </a:r>
          </a:p>
          <a:p>
            <a:pPr>
              <a:lnSpc>
                <a:spcPct val="150000"/>
              </a:lnSpc>
            </a:pPr>
            <a:r>
              <a:rPr lang="en-IN" dirty="0"/>
              <a:t>Listed all .npz flow files and identified corresponding original video files.</a:t>
            </a:r>
          </a:p>
          <a:p>
            <a:pPr>
              <a:lnSpc>
                <a:spcPct val="150000"/>
              </a:lnSpc>
            </a:pPr>
            <a:r>
              <a:rPr lang="en-IN" sz="2200" b="1" u="sng" dirty="0">
                <a:solidFill>
                  <a:srgbClr val="0000FF"/>
                </a:solidFill>
              </a:rPr>
              <a:t>Data Loading</a:t>
            </a:r>
          </a:p>
          <a:p>
            <a:pPr>
              <a:lnSpc>
                <a:spcPct val="150000"/>
              </a:lnSpc>
            </a:pPr>
            <a:r>
              <a:rPr lang="en-IN" dirty="0"/>
              <a:t>Opened original video (cv2.VideoCapture). Loaded motion vectors from the .npz file (</a:t>
            </a:r>
            <a:r>
              <a:rPr lang="en-IN" dirty="0" err="1"/>
              <a:t>np.load</a:t>
            </a:r>
            <a:r>
              <a:rPr lang="en-IN" dirty="0"/>
              <a:t>). Read video properties (FPS, dimensions).</a:t>
            </a:r>
          </a:p>
          <a:p>
            <a:pPr>
              <a:lnSpc>
                <a:spcPct val="150000"/>
              </a:lnSpc>
            </a:pPr>
            <a:r>
              <a:rPr lang="en-IN" dirty="0"/>
              <a:t>Output Video Setup Initialized cv2.VideoWriter to save visualization output as .mp4.</a:t>
            </a:r>
          </a:p>
          <a:p>
            <a:pPr>
              <a:lnSpc>
                <a:spcPct val="150000"/>
              </a:lnSpc>
            </a:pPr>
            <a:r>
              <a:rPr lang="en-IN" sz="2200" b="1" u="sng" dirty="0">
                <a:solidFill>
                  <a:srgbClr val="0000FF"/>
                </a:solidFill>
              </a:rPr>
              <a:t>Frame Processing &amp; Visualization Loop</a:t>
            </a:r>
          </a:p>
          <a:p>
            <a:pPr>
              <a:lnSpc>
                <a:spcPct val="150000"/>
              </a:lnSpc>
            </a:pPr>
            <a:r>
              <a:rPr lang="en-IN" dirty="0"/>
              <a:t>Read frames from the original video and corresponding flow data. Converted optical flow vectors (direction/magnitude) to HSV colour space (Hue=Direction, Value=Magnitude, Saturation=Max). Converted HSV visualization back to BGR format (cv2.cvtColor).Blended the BGR flow visualization onto the original frame (cv2.addWeighted, e.g., 70% video + 30% flow). Displayed the blended frame in real-time (cv2.imshow). Wrote the blended frame to the output video file.</a:t>
            </a:r>
          </a:p>
          <a:p>
            <a:pPr>
              <a:lnSpc>
                <a:spcPct val="150000"/>
              </a:lnSpc>
            </a:pPr>
            <a:r>
              <a:rPr lang="en-IN" dirty="0"/>
              <a:t>Cleanup: Released video capture/writer resources and closed display windows.</a:t>
            </a:r>
          </a:p>
        </p:txBody>
      </p:sp>
    </p:spTree>
    <p:extLst>
      <p:ext uri="{BB962C8B-B14F-4D97-AF65-F5344CB8AC3E}">
        <p14:creationId xmlns:p14="http://schemas.microsoft.com/office/powerpoint/2010/main" val="2286092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F03DFD-4A01-30AE-2A5F-AE6F6B54E13C}"/>
              </a:ext>
            </a:extLst>
          </p:cNvPr>
          <p:cNvSpPr txBox="1"/>
          <p:nvPr/>
        </p:nvSpPr>
        <p:spPr>
          <a:xfrm>
            <a:off x="3810000" y="76200"/>
            <a:ext cx="4114800" cy="707886"/>
          </a:xfrm>
          <a:prstGeom prst="rect">
            <a:avLst/>
          </a:prstGeom>
          <a:noFill/>
        </p:spPr>
        <p:txBody>
          <a:bodyPr wrap="square">
            <a:spAutoFit/>
          </a:bodyPr>
          <a:lstStyle/>
          <a:p>
            <a:r>
              <a:rPr lang="en-US" sz="4000" b="1" dirty="0">
                <a:solidFill>
                  <a:srgbClr val="FF0000"/>
                </a:solidFill>
                <a:latin typeface="Trebuchet MS"/>
                <a:ea typeface="Trebuchet MS"/>
                <a:cs typeface="Trebuchet MS"/>
                <a:sym typeface="Trebuchet MS"/>
              </a:rPr>
              <a:t>Project Progress</a:t>
            </a:r>
            <a:endParaRPr lang="en-IN" sz="4000" b="1" dirty="0"/>
          </a:p>
        </p:txBody>
      </p:sp>
      <p:sp>
        <p:nvSpPr>
          <p:cNvPr id="4" name="Rectangle 3">
            <a:extLst>
              <a:ext uri="{FF2B5EF4-FFF2-40B4-BE49-F238E27FC236}">
                <a16:creationId xmlns:a16="http://schemas.microsoft.com/office/drawing/2014/main" id="{ED6A944F-2D08-7356-0B9E-1112206C83F3}"/>
              </a:ext>
            </a:extLst>
          </p:cNvPr>
          <p:cNvSpPr>
            <a:spLocks noChangeArrowheads="1"/>
          </p:cNvSpPr>
          <p:nvPr/>
        </p:nvSpPr>
        <p:spPr bwMode="auto">
          <a:xfrm>
            <a:off x="1981200" y="765829"/>
            <a:ext cx="7620000" cy="36513"/>
          </a:xfrm>
          <a:prstGeom prst="rect">
            <a:avLst/>
          </a:prstGeom>
          <a:solidFill>
            <a:srgbClr val="33CCCC"/>
          </a:solidFill>
          <a:ln w="9525">
            <a:noFill/>
            <a:miter lim="800000"/>
            <a:headEnd/>
            <a:tailEnd/>
          </a:ln>
        </p:spPr>
        <p:txBody>
          <a:bodyPr wrap="none" anchor="ctr"/>
          <a:lstStyle/>
          <a:p>
            <a:endParaRPr lang="en-US"/>
          </a:p>
        </p:txBody>
      </p:sp>
      <p:sp>
        <p:nvSpPr>
          <p:cNvPr id="6" name="TextBox 5">
            <a:extLst>
              <a:ext uri="{FF2B5EF4-FFF2-40B4-BE49-F238E27FC236}">
                <a16:creationId xmlns:a16="http://schemas.microsoft.com/office/drawing/2014/main" id="{2729196F-1FA0-2D47-A9F8-B5A032F43477}"/>
              </a:ext>
            </a:extLst>
          </p:cNvPr>
          <p:cNvSpPr txBox="1"/>
          <p:nvPr/>
        </p:nvSpPr>
        <p:spPr>
          <a:xfrm>
            <a:off x="152400" y="895352"/>
            <a:ext cx="6094602" cy="578363"/>
          </a:xfrm>
          <a:prstGeom prst="rect">
            <a:avLst/>
          </a:prstGeom>
          <a:noFill/>
        </p:spPr>
        <p:txBody>
          <a:bodyPr wrap="square">
            <a:spAutoFit/>
          </a:bodyPr>
          <a:lstStyle/>
          <a:p>
            <a:pPr algn="just">
              <a:lnSpc>
                <a:spcPct val="150000"/>
              </a:lnSpc>
              <a:spcBef>
                <a:spcPts val="0"/>
              </a:spcBef>
              <a:spcAft>
                <a:spcPts val="0"/>
              </a:spcAft>
            </a:pPr>
            <a:r>
              <a:rPr lang="en-US" sz="2400" b="1" u="sng" dirty="0">
                <a:solidFill>
                  <a:srgbClr val="FF0000"/>
                </a:solidFill>
              </a:rPr>
              <a:t>BASIC IMPLEMENTATION </a:t>
            </a:r>
            <a:endParaRPr lang="en-US" sz="2400" b="1" u="sng" dirty="0">
              <a:solidFill>
                <a:srgbClr val="FF0000"/>
              </a:solidFill>
              <a:latin typeface="Trebuchet MS"/>
              <a:ea typeface="Trebuchet MS"/>
              <a:cs typeface="Trebuchet MS"/>
              <a:sym typeface="Trebuchet MS"/>
            </a:endParaRPr>
          </a:p>
        </p:txBody>
      </p:sp>
      <p:sp>
        <p:nvSpPr>
          <p:cNvPr id="8" name="TextBox 7">
            <a:extLst>
              <a:ext uri="{FF2B5EF4-FFF2-40B4-BE49-F238E27FC236}">
                <a16:creationId xmlns:a16="http://schemas.microsoft.com/office/drawing/2014/main" id="{88CAAB0F-2412-561D-2D67-2298697682EA}"/>
              </a:ext>
            </a:extLst>
          </p:cNvPr>
          <p:cNvSpPr txBox="1"/>
          <p:nvPr/>
        </p:nvSpPr>
        <p:spPr>
          <a:xfrm>
            <a:off x="152400" y="1566725"/>
            <a:ext cx="7848600" cy="5027017"/>
          </a:xfrm>
          <a:prstGeom prst="rect">
            <a:avLst/>
          </a:prstGeom>
          <a:noFill/>
        </p:spPr>
        <p:txBody>
          <a:bodyPr wrap="square">
            <a:spAutoFit/>
          </a:bodyPr>
          <a:lstStyle/>
          <a:p>
            <a:pPr>
              <a:lnSpc>
                <a:spcPct val="150000"/>
              </a:lnSpc>
            </a:pPr>
            <a:r>
              <a:rPr lang="en-IN" b="1" dirty="0"/>
              <a:t>MediaMTX: </a:t>
            </a:r>
          </a:p>
          <a:p>
            <a:pPr marL="0" indent="0">
              <a:lnSpc>
                <a:spcPct val="150000"/>
              </a:lnSpc>
              <a:buNone/>
            </a:pPr>
            <a:r>
              <a:rPr lang="en-IN" sz="1800" dirty="0"/>
              <a:t>It is a powerful and efficient media server that supports various streaming protocols, including RTSP(Real Time Streaming Protocol). By running mediamtx.exe, we establish an RTSP server that can stream our pre-processed video data. The server listens on specific ports for incoming client connections.</a:t>
            </a:r>
          </a:p>
          <a:p>
            <a:pPr>
              <a:lnSpc>
                <a:spcPct val="150000"/>
              </a:lnSpc>
            </a:pPr>
            <a:r>
              <a:rPr lang="en-IN" b="1" dirty="0"/>
              <a:t>FFmpeg: </a:t>
            </a:r>
          </a:p>
          <a:p>
            <a:pPr marL="0" indent="0">
              <a:lnSpc>
                <a:spcPct val="150000"/>
              </a:lnSpc>
              <a:buNone/>
            </a:pPr>
            <a:r>
              <a:rPr lang="en-US" sz="1800" dirty="0"/>
              <a:t>Core command-line tool for video processing. FFmpeg command creates a looped, real-time RTSP stream, effectively simulating a CCTV feed. This simulated feed is vital for testing the replay attack detection system in a realistic environment. The choices of -re, -c copy, and -f RTSP prioritize real-time accuracy, efficiency, and compatibility with surveillance standards.</a:t>
            </a:r>
            <a:endParaRPr lang="en-IN" sz="1800" dirty="0"/>
          </a:p>
        </p:txBody>
      </p:sp>
      <p:pic>
        <p:nvPicPr>
          <p:cNvPr id="9" name="Picture 8">
            <a:extLst>
              <a:ext uri="{FF2B5EF4-FFF2-40B4-BE49-F238E27FC236}">
                <a16:creationId xmlns:a16="http://schemas.microsoft.com/office/drawing/2014/main" id="{587149E6-39EA-0D09-19F0-62FEA8F07A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6270" y="1905000"/>
            <a:ext cx="4369895" cy="1919312"/>
          </a:xfrm>
          <a:prstGeom prst="rect">
            <a:avLst/>
          </a:prstGeom>
        </p:spPr>
      </p:pic>
      <p:pic>
        <p:nvPicPr>
          <p:cNvPr id="10" name="Picture 9">
            <a:extLst>
              <a:ext uri="{FF2B5EF4-FFF2-40B4-BE49-F238E27FC236}">
                <a16:creationId xmlns:a16="http://schemas.microsoft.com/office/drawing/2014/main" id="{EDC80EBC-CA44-6F78-DF00-86436EF118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7323" y="4366835"/>
            <a:ext cx="4267200" cy="1848880"/>
          </a:xfrm>
          <a:prstGeom prst="rect">
            <a:avLst/>
          </a:prstGeom>
        </p:spPr>
      </p:pic>
    </p:spTree>
    <p:extLst>
      <p:ext uri="{BB962C8B-B14F-4D97-AF65-F5344CB8AC3E}">
        <p14:creationId xmlns:p14="http://schemas.microsoft.com/office/powerpoint/2010/main" val="367202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783D70-9832-1220-059A-493D126EED61}"/>
              </a:ext>
            </a:extLst>
          </p:cNvPr>
          <p:cNvSpPr txBox="1"/>
          <p:nvPr/>
        </p:nvSpPr>
        <p:spPr>
          <a:xfrm>
            <a:off x="216715" y="1295400"/>
            <a:ext cx="6705600" cy="5113644"/>
          </a:xfrm>
          <a:prstGeom prst="rect">
            <a:avLst/>
          </a:prstGeom>
          <a:noFill/>
        </p:spPr>
        <p:txBody>
          <a:bodyPr wrap="square">
            <a:spAutoFit/>
          </a:bodyPr>
          <a:lstStyle/>
          <a:p>
            <a:pPr>
              <a:lnSpc>
                <a:spcPct val="150000"/>
              </a:lnSpc>
            </a:pPr>
            <a:r>
              <a:rPr lang="en-US" sz="2000" b="1" dirty="0"/>
              <a:t>Ffplay: </a:t>
            </a:r>
          </a:p>
          <a:p>
            <a:pPr marL="0" indent="0">
              <a:lnSpc>
                <a:spcPct val="150000"/>
              </a:lnSpc>
              <a:buNone/>
            </a:pPr>
            <a:r>
              <a:rPr lang="en-US" sz="2000" dirty="0"/>
              <a:t>It serves as a direct, visual confirmation that the RTSP stream is accessible and playing as intended. It ensures that the video encoding and streaming process is functioning correctly. It allows for a quick visual inspection of the stream's quality and content. By using Ffplay, you can quickly identify any issues with the RTSP stream, such as: </a:t>
            </a:r>
          </a:p>
          <a:p>
            <a:pPr marL="0" indent="0">
              <a:lnSpc>
                <a:spcPct val="150000"/>
              </a:lnSpc>
              <a:buNone/>
            </a:pPr>
            <a:r>
              <a:rPr lang="en-US" sz="2000" dirty="0"/>
              <a:t>-&gt; Connection problems</a:t>
            </a:r>
          </a:p>
          <a:p>
            <a:pPr marL="0" indent="0">
              <a:lnSpc>
                <a:spcPct val="150000"/>
              </a:lnSpc>
              <a:buNone/>
            </a:pPr>
            <a:r>
              <a:rPr lang="en-US" sz="2000" dirty="0"/>
              <a:t>-&gt; Video encoding errors</a:t>
            </a:r>
          </a:p>
          <a:p>
            <a:pPr marL="0" indent="0">
              <a:lnSpc>
                <a:spcPct val="150000"/>
              </a:lnSpc>
              <a:buNone/>
            </a:pPr>
            <a:r>
              <a:rPr lang="en-US" sz="2000" dirty="0"/>
              <a:t>-&gt; Latency or buffering issues.</a:t>
            </a:r>
            <a:endParaRPr lang="en-IN" sz="2000" dirty="0"/>
          </a:p>
        </p:txBody>
      </p:sp>
      <p:sp>
        <p:nvSpPr>
          <p:cNvPr id="5" name="TextBox 4">
            <a:extLst>
              <a:ext uri="{FF2B5EF4-FFF2-40B4-BE49-F238E27FC236}">
                <a16:creationId xmlns:a16="http://schemas.microsoft.com/office/drawing/2014/main" id="{0F3D547B-0609-0F78-5B09-965954196A46}"/>
              </a:ext>
            </a:extLst>
          </p:cNvPr>
          <p:cNvSpPr txBox="1"/>
          <p:nvPr/>
        </p:nvSpPr>
        <p:spPr>
          <a:xfrm>
            <a:off x="3810000" y="76200"/>
            <a:ext cx="4266501" cy="707886"/>
          </a:xfrm>
          <a:prstGeom prst="rect">
            <a:avLst/>
          </a:prstGeom>
          <a:noFill/>
        </p:spPr>
        <p:txBody>
          <a:bodyPr wrap="square">
            <a:spAutoFit/>
          </a:bodyPr>
          <a:lstStyle/>
          <a:p>
            <a:r>
              <a:rPr lang="en-US" sz="4000" b="1" dirty="0">
                <a:solidFill>
                  <a:srgbClr val="FF0000"/>
                </a:solidFill>
                <a:latin typeface="Trebuchet MS"/>
                <a:ea typeface="Trebuchet MS"/>
                <a:cs typeface="Trebuchet MS"/>
                <a:sym typeface="Trebuchet MS"/>
              </a:rPr>
              <a:t>Project Progress</a:t>
            </a:r>
            <a:endParaRPr lang="en-IN" sz="4000" b="1" dirty="0"/>
          </a:p>
        </p:txBody>
      </p:sp>
      <p:sp>
        <p:nvSpPr>
          <p:cNvPr id="6" name="Rectangle 5">
            <a:extLst>
              <a:ext uri="{FF2B5EF4-FFF2-40B4-BE49-F238E27FC236}">
                <a16:creationId xmlns:a16="http://schemas.microsoft.com/office/drawing/2014/main" id="{F81CEE06-ACAC-5D50-8617-57CB65841522}"/>
              </a:ext>
            </a:extLst>
          </p:cNvPr>
          <p:cNvSpPr>
            <a:spLocks noChangeArrowheads="1"/>
          </p:cNvSpPr>
          <p:nvPr/>
        </p:nvSpPr>
        <p:spPr bwMode="auto">
          <a:xfrm>
            <a:off x="1981200" y="765829"/>
            <a:ext cx="7620000" cy="36513"/>
          </a:xfrm>
          <a:prstGeom prst="rect">
            <a:avLst/>
          </a:prstGeom>
          <a:solidFill>
            <a:srgbClr val="33CCCC"/>
          </a:solidFill>
          <a:ln w="9525">
            <a:noFill/>
            <a:miter lim="800000"/>
            <a:headEnd/>
            <a:tailEnd/>
          </a:ln>
        </p:spPr>
        <p:txBody>
          <a:bodyPr wrap="none" anchor="ctr"/>
          <a:lstStyle/>
          <a:p>
            <a:endParaRPr lang="en-US"/>
          </a:p>
        </p:txBody>
      </p:sp>
      <p:sp>
        <p:nvSpPr>
          <p:cNvPr id="8" name="TextBox 7">
            <a:extLst>
              <a:ext uri="{FF2B5EF4-FFF2-40B4-BE49-F238E27FC236}">
                <a16:creationId xmlns:a16="http://schemas.microsoft.com/office/drawing/2014/main" id="{D8AD7608-4B60-1488-2D18-C093266CC068}"/>
              </a:ext>
            </a:extLst>
          </p:cNvPr>
          <p:cNvSpPr txBox="1"/>
          <p:nvPr/>
        </p:nvSpPr>
        <p:spPr>
          <a:xfrm>
            <a:off x="229998" y="819819"/>
            <a:ext cx="6094602" cy="578363"/>
          </a:xfrm>
          <a:prstGeom prst="rect">
            <a:avLst/>
          </a:prstGeom>
          <a:noFill/>
        </p:spPr>
        <p:txBody>
          <a:bodyPr wrap="square">
            <a:spAutoFit/>
          </a:bodyPr>
          <a:lstStyle/>
          <a:p>
            <a:pPr algn="just">
              <a:lnSpc>
                <a:spcPct val="150000"/>
              </a:lnSpc>
              <a:spcBef>
                <a:spcPts val="0"/>
              </a:spcBef>
              <a:spcAft>
                <a:spcPts val="0"/>
              </a:spcAft>
            </a:pPr>
            <a:r>
              <a:rPr lang="en-US" sz="2400" b="1" u="sng" dirty="0">
                <a:solidFill>
                  <a:srgbClr val="FF0000"/>
                </a:solidFill>
              </a:rPr>
              <a:t>BASIC IMPLEMENTATION </a:t>
            </a:r>
            <a:endParaRPr lang="en-US" sz="2400" b="1" u="sng" dirty="0">
              <a:solidFill>
                <a:srgbClr val="FF0000"/>
              </a:solidFill>
              <a:latin typeface="Trebuchet MS"/>
              <a:ea typeface="Trebuchet MS"/>
              <a:cs typeface="Trebuchet MS"/>
              <a:sym typeface="Trebuchet MS"/>
            </a:endParaRPr>
          </a:p>
        </p:txBody>
      </p:sp>
      <p:pic>
        <p:nvPicPr>
          <p:cNvPr id="9" name="Picture 8">
            <a:extLst>
              <a:ext uri="{FF2B5EF4-FFF2-40B4-BE49-F238E27FC236}">
                <a16:creationId xmlns:a16="http://schemas.microsoft.com/office/drawing/2014/main" id="{B30CD1A1-E040-8792-424A-1840D902B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4303713"/>
            <a:ext cx="5768134" cy="2505351"/>
          </a:xfrm>
          <a:prstGeom prst="rect">
            <a:avLst/>
          </a:prstGeom>
        </p:spPr>
      </p:pic>
    </p:spTree>
    <p:extLst>
      <p:ext uri="{BB962C8B-B14F-4D97-AF65-F5344CB8AC3E}">
        <p14:creationId xmlns:p14="http://schemas.microsoft.com/office/powerpoint/2010/main" val="2007318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790700" y="707886"/>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19400" y="0"/>
            <a:ext cx="5562600" cy="707886"/>
          </a:xfrm>
          <a:prstGeom prst="rect">
            <a:avLst/>
          </a:prstGeom>
          <a:noFill/>
          <a:ln w="9525">
            <a:noFill/>
            <a:miter lim="800000"/>
            <a:headEnd/>
            <a:tailEnd/>
          </a:ln>
        </p:spPr>
        <p:txBody>
          <a:bodyPr wrap="square">
            <a:spAutoFit/>
          </a:bodyPr>
          <a:lstStyle/>
          <a:p>
            <a:pPr marL="342891" indent="-342891" algn="r" eaLnBrk="0" hangingPunct="0">
              <a:defRPr/>
            </a:pPr>
            <a:r>
              <a:rPr lang="en-US" sz="4000" b="1" dirty="0">
                <a:solidFill>
                  <a:srgbClr val="FF0000"/>
                </a:solidFill>
                <a:latin typeface="Trebuchet MS" pitchFamily="34" charset="0"/>
              </a:rPr>
              <a:t>Any other information</a:t>
            </a:r>
          </a:p>
        </p:txBody>
      </p:sp>
      <p:sp>
        <p:nvSpPr>
          <p:cNvPr id="5" name="TextBox 4">
            <a:extLst>
              <a:ext uri="{FF2B5EF4-FFF2-40B4-BE49-F238E27FC236}">
                <a16:creationId xmlns:a16="http://schemas.microsoft.com/office/drawing/2014/main" id="{EBB10B19-4157-41B3-85CA-452455B519DD}"/>
              </a:ext>
            </a:extLst>
          </p:cNvPr>
          <p:cNvSpPr txBox="1"/>
          <p:nvPr/>
        </p:nvSpPr>
        <p:spPr>
          <a:xfrm>
            <a:off x="-152400" y="838200"/>
            <a:ext cx="12192000" cy="6099042"/>
          </a:xfrm>
          <a:prstGeom prst="rect">
            <a:avLst/>
          </a:prstGeom>
          <a:noFill/>
        </p:spPr>
        <p:txBody>
          <a:bodyPr wrap="square">
            <a:spAutoFit/>
          </a:bodyPr>
          <a:lstStyle/>
          <a:p>
            <a:pPr marL="800100" indent="-457200" algn="just" eaLnBrk="0" hangingPunct="0">
              <a:lnSpc>
                <a:spcPct val="150000"/>
              </a:lnSpc>
              <a:spcBef>
                <a:spcPts val="0"/>
              </a:spcBef>
              <a:spcAft>
                <a:spcPts val="0"/>
              </a:spcAft>
              <a:buAutoNum type="arabicPeriod"/>
              <a:defRPr/>
            </a:pPr>
            <a:r>
              <a:rPr lang="en-US" sz="2000" b="1" u="sng" dirty="0">
                <a:solidFill>
                  <a:srgbClr val="FF0000"/>
                </a:solidFill>
                <a:latin typeface="Trebuchet MS" panose="020B0603020202020204"/>
                <a:sym typeface="Trebuchet MS" panose="020B0603020202020204"/>
              </a:rPr>
              <a:t>User Training</a:t>
            </a:r>
            <a:r>
              <a:rPr lang="en-US" sz="2000" dirty="0">
                <a:solidFill>
                  <a:srgbClr val="FF0000"/>
                </a:solidFill>
                <a:latin typeface="Trebuchet MS" panose="020B0603020202020204"/>
                <a:sym typeface="Trebuchet MS" panose="020B0603020202020204"/>
              </a:rPr>
              <a:t>:</a:t>
            </a:r>
            <a:r>
              <a:rPr lang="en-US" sz="2000" dirty="0">
                <a:solidFill>
                  <a:srgbClr val="0033CC"/>
                </a:solidFill>
                <a:latin typeface="Trebuchet MS" panose="020B0603020202020204"/>
                <a:sym typeface="Trebuchet MS" panose="020B0603020202020204"/>
              </a:rPr>
              <a:t> Educate the personnel who will be interacting with the CCTV system about the signs of replay attacks and how to respond to alerts.</a:t>
            </a:r>
          </a:p>
          <a:p>
            <a:pPr marL="800100" indent="-457200" algn="just" eaLnBrk="0" hangingPunct="0">
              <a:lnSpc>
                <a:spcPct val="150000"/>
              </a:lnSpc>
              <a:spcBef>
                <a:spcPts val="0"/>
              </a:spcBef>
              <a:spcAft>
                <a:spcPts val="0"/>
              </a:spcAft>
              <a:buAutoNum type="arabicPeriod"/>
              <a:defRPr/>
            </a:pPr>
            <a:r>
              <a:rPr lang="en-US" sz="2000" b="1" u="sng" dirty="0">
                <a:solidFill>
                  <a:srgbClr val="FF0000"/>
                </a:solidFill>
                <a:latin typeface="Trebuchet MS" panose="020B0603020202020204"/>
                <a:sym typeface="Trebuchet MS" panose="020B0603020202020204"/>
              </a:rPr>
              <a:t>Incident Response Plan</a:t>
            </a:r>
            <a:r>
              <a:rPr lang="en-US" sz="2000" dirty="0">
                <a:solidFill>
                  <a:srgbClr val="FF0000"/>
                </a:solidFill>
                <a:latin typeface="Trebuchet MS" panose="020B0603020202020204"/>
                <a:sym typeface="Trebuchet MS" panose="020B0603020202020204"/>
              </a:rPr>
              <a:t>:</a:t>
            </a:r>
            <a:r>
              <a:rPr lang="en-US" sz="2000" dirty="0">
                <a:solidFill>
                  <a:srgbClr val="0033CC"/>
                </a:solidFill>
                <a:latin typeface="Trebuchet MS" panose="020B0603020202020204"/>
                <a:sym typeface="Trebuchet MS" panose="020B0603020202020204"/>
              </a:rPr>
              <a:t> Develop a detailed incident response plan to handle detected replay attacks efficiently. This should include steps for isolating affected systems, investigating the breach, and mitigating the damage.</a:t>
            </a:r>
          </a:p>
          <a:p>
            <a:pPr marL="800100" indent="-457200" algn="just" eaLnBrk="0" hangingPunct="0">
              <a:lnSpc>
                <a:spcPct val="150000"/>
              </a:lnSpc>
              <a:spcBef>
                <a:spcPts val="0"/>
              </a:spcBef>
              <a:spcAft>
                <a:spcPts val="0"/>
              </a:spcAft>
              <a:buAutoNum type="arabicPeriod"/>
              <a:defRPr/>
            </a:pPr>
            <a:r>
              <a:rPr lang="en-US" sz="2000" b="1" u="sng" dirty="0">
                <a:solidFill>
                  <a:srgbClr val="FF0000"/>
                </a:solidFill>
                <a:latin typeface="Trebuchet MS" panose="020B0603020202020204"/>
                <a:sym typeface="Trebuchet MS" panose="020B0603020202020204"/>
              </a:rPr>
              <a:t>Redundancy and Backup</a:t>
            </a:r>
            <a:r>
              <a:rPr lang="en-US" sz="2000" dirty="0">
                <a:solidFill>
                  <a:srgbClr val="FF0000"/>
                </a:solidFill>
                <a:latin typeface="Trebuchet MS" panose="020B0603020202020204"/>
                <a:sym typeface="Trebuchet MS" panose="020B0603020202020204"/>
              </a:rPr>
              <a:t>:</a:t>
            </a:r>
            <a:r>
              <a:rPr lang="en-US" sz="2000" dirty="0">
                <a:solidFill>
                  <a:srgbClr val="0033CC"/>
                </a:solidFill>
                <a:latin typeface="Trebuchet MS" panose="020B0603020202020204"/>
                <a:sym typeface="Trebuchet MS" panose="020B0603020202020204"/>
              </a:rPr>
              <a:t> Implement redundancy in your CCTV infrastructure to ensure there is always a backup in case one system fails. Regular backups of footage can also help verify the integrity of the data.</a:t>
            </a:r>
          </a:p>
          <a:p>
            <a:pPr marL="800100" indent="-457200" algn="just" eaLnBrk="0" hangingPunct="0">
              <a:lnSpc>
                <a:spcPct val="150000"/>
              </a:lnSpc>
              <a:spcBef>
                <a:spcPts val="0"/>
              </a:spcBef>
              <a:spcAft>
                <a:spcPts val="0"/>
              </a:spcAft>
              <a:buAutoNum type="arabicPeriod"/>
              <a:defRPr/>
            </a:pPr>
            <a:r>
              <a:rPr lang="en-US" sz="2000" b="1" u="sng" dirty="0">
                <a:solidFill>
                  <a:srgbClr val="FF0000"/>
                </a:solidFill>
                <a:latin typeface="Trebuchet MS" panose="020B0603020202020204"/>
                <a:sym typeface="Trebuchet MS" panose="020B0603020202020204"/>
              </a:rPr>
              <a:t>Detailed Documentation</a:t>
            </a:r>
            <a:r>
              <a:rPr lang="en-US" sz="2000" dirty="0">
                <a:solidFill>
                  <a:srgbClr val="0033CC"/>
                </a:solidFill>
                <a:latin typeface="Trebuchet MS" panose="020B0603020202020204"/>
                <a:sym typeface="Trebuchet MS" panose="020B0603020202020204"/>
              </a:rPr>
              <a:t>: Maintain comprehensive documentation of the system design, protocols, and updates. This can help in troubleshooting and training new team members.</a:t>
            </a:r>
          </a:p>
          <a:p>
            <a:pPr marL="800100" indent="-457200" algn="just" eaLnBrk="0" hangingPunct="0">
              <a:lnSpc>
                <a:spcPct val="150000"/>
              </a:lnSpc>
              <a:spcBef>
                <a:spcPts val="0"/>
              </a:spcBef>
              <a:spcAft>
                <a:spcPts val="0"/>
              </a:spcAft>
              <a:buAutoNum type="arabicPeriod"/>
              <a:defRPr/>
            </a:pPr>
            <a:r>
              <a:rPr lang="en-US" sz="2000" b="1" u="sng" dirty="0">
                <a:solidFill>
                  <a:srgbClr val="FF0000"/>
                </a:solidFill>
                <a:latin typeface="Trebuchet MS" panose="020B0603020202020204"/>
                <a:sym typeface="Trebuchet MS" panose="020B0603020202020204"/>
              </a:rPr>
              <a:t>User Feedback Loop</a:t>
            </a:r>
            <a:r>
              <a:rPr lang="en-US" sz="2000" dirty="0">
                <a:solidFill>
                  <a:srgbClr val="0033CC"/>
                </a:solidFill>
                <a:latin typeface="Trebuchet MS" panose="020B0603020202020204"/>
                <a:sym typeface="Trebuchet MS" panose="020B0603020202020204"/>
              </a:rPr>
              <a:t>: Incorporate a feedback mechanism where users can report any false positives or system issues, which can be used to improve the AI model.</a:t>
            </a:r>
            <a:endParaRPr lang="en-IN" sz="2000" dirty="0">
              <a:solidFill>
                <a:srgbClr val="0033CC"/>
              </a:solidFill>
              <a:latin typeface="Trebuchet MS" panose="020B0603020202020204"/>
              <a:sym typeface="Trebuchet MS" panose="020B0603020202020204"/>
            </a:endParaRPr>
          </a:p>
          <a:p>
            <a:pPr marL="342891" indent="12700" algn="just" eaLnBrk="0" hangingPunct="0">
              <a:lnSpc>
                <a:spcPct val="150000"/>
              </a:lnSpc>
              <a:spcBef>
                <a:spcPct val="20000"/>
              </a:spcBef>
              <a:defRPr/>
            </a:pPr>
            <a:endParaRPr lang="en-IN" sz="2000" kern="0" dirty="0">
              <a:latin typeface="Trebuchet MS"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609600" y="762000"/>
            <a:ext cx="9601200" cy="45719"/>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304800" y="152400"/>
            <a:ext cx="9906000" cy="523220"/>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800" b="1" dirty="0">
                <a:solidFill>
                  <a:srgbClr val="FF0000"/>
                </a:solidFill>
                <a:latin typeface="Trebuchet MS"/>
              </a:rPr>
              <a:t>Capstone (Phase-I Phase-II and Phase III) Project Timeline</a:t>
            </a:r>
            <a:endParaRPr lang="en-US" sz="2800" b="1" dirty="0">
              <a:solidFill>
                <a:srgbClr val="FF0000"/>
              </a:solidFill>
              <a:latin typeface="Trebuchet MS"/>
            </a:endParaRPr>
          </a:p>
        </p:txBody>
      </p:sp>
      <p:pic>
        <p:nvPicPr>
          <p:cNvPr id="4" name="Picture 3">
            <a:extLst>
              <a:ext uri="{FF2B5EF4-FFF2-40B4-BE49-F238E27FC236}">
                <a16:creationId xmlns:a16="http://schemas.microsoft.com/office/drawing/2014/main" id="{7A8D16B5-12A5-D753-C00B-36446EA7FC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9820"/>
            <a:ext cx="12192000" cy="5918180"/>
          </a:xfrm>
          <a:prstGeom prst="rect">
            <a:avLst/>
          </a:prstGeom>
        </p:spPr>
      </p:pic>
    </p:spTree>
    <p:extLst>
      <p:ext uri="{BB962C8B-B14F-4D97-AF65-F5344CB8AC3E}">
        <p14:creationId xmlns:p14="http://schemas.microsoft.com/office/powerpoint/2010/main" val="1007940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493AEB-9860-F530-0B0F-A60DD4C6FEDD}"/>
              </a:ext>
            </a:extLst>
          </p:cNvPr>
          <p:cNvSpPr txBox="1"/>
          <p:nvPr/>
        </p:nvSpPr>
        <p:spPr>
          <a:xfrm>
            <a:off x="2743200" y="130314"/>
            <a:ext cx="5942202" cy="707886"/>
          </a:xfrm>
          <a:prstGeom prst="rect">
            <a:avLst/>
          </a:prstGeom>
          <a:noFill/>
        </p:spPr>
        <p:txBody>
          <a:bodyPr wrap="square">
            <a:spAutoFit/>
          </a:bodyPr>
          <a:lstStyle/>
          <a:p>
            <a:pPr marL="342900" indent="-342900" algn="r" eaLnBrk="0" hangingPunct="0">
              <a:spcBef>
                <a:spcPts val="0"/>
              </a:spcBef>
              <a:spcAft>
                <a:spcPts val="0"/>
              </a:spcAft>
              <a:defRPr/>
            </a:pPr>
            <a:r>
              <a:rPr lang="en-IN" sz="4000" b="1" dirty="0">
                <a:solidFill>
                  <a:srgbClr val="FF0000"/>
                </a:solidFill>
                <a:latin typeface="Trebuchet MS"/>
              </a:rPr>
              <a:t>Capstone-1 Deliverables</a:t>
            </a:r>
            <a:endParaRPr lang="en-US" sz="4000" b="1" dirty="0">
              <a:solidFill>
                <a:srgbClr val="FF0000"/>
              </a:solidFill>
              <a:latin typeface="Trebuchet MS"/>
            </a:endParaRPr>
          </a:p>
        </p:txBody>
      </p:sp>
      <p:sp>
        <p:nvSpPr>
          <p:cNvPr id="4" name="Rectangle 3">
            <a:extLst>
              <a:ext uri="{FF2B5EF4-FFF2-40B4-BE49-F238E27FC236}">
                <a16:creationId xmlns:a16="http://schemas.microsoft.com/office/drawing/2014/main" id="{BD7BC36E-8DAD-9ECF-E05C-7339CF81362F}"/>
              </a:ext>
            </a:extLst>
          </p:cNvPr>
          <p:cNvSpPr>
            <a:spLocks noChangeArrowheads="1"/>
          </p:cNvSpPr>
          <p:nvPr/>
        </p:nvSpPr>
        <p:spPr bwMode="auto">
          <a:xfrm>
            <a:off x="609600" y="838200"/>
            <a:ext cx="9601200" cy="45719"/>
          </a:xfrm>
          <a:prstGeom prst="rect">
            <a:avLst/>
          </a:prstGeom>
          <a:solidFill>
            <a:srgbClr val="33CCCC"/>
          </a:solidFill>
          <a:ln w="9525">
            <a:noFill/>
            <a:miter lim="800000"/>
            <a:headEnd/>
            <a:tailEnd/>
          </a:ln>
        </p:spPr>
        <p:txBody>
          <a:bodyPr wrap="none" anchor="ctr"/>
          <a:lstStyle/>
          <a:p>
            <a:endParaRPr lang="en-US"/>
          </a:p>
        </p:txBody>
      </p:sp>
      <p:sp>
        <p:nvSpPr>
          <p:cNvPr id="6" name="TextBox 5">
            <a:extLst>
              <a:ext uri="{FF2B5EF4-FFF2-40B4-BE49-F238E27FC236}">
                <a16:creationId xmlns:a16="http://schemas.microsoft.com/office/drawing/2014/main" id="{746ABA8C-2F86-9E7B-38CE-DA8FA7B815A1}"/>
              </a:ext>
            </a:extLst>
          </p:cNvPr>
          <p:cNvSpPr txBox="1"/>
          <p:nvPr/>
        </p:nvSpPr>
        <p:spPr>
          <a:xfrm>
            <a:off x="762000" y="1415772"/>
            <a:ext cx="7239000" cy="5027017"/>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IN" sz="1800" b="1" dirty="0">
                <a:solidFill>
                  <a:srgbClr val="0000FF"/>
                </a:solidFill>
              </a:rPr>
              <a:t>Literature survey</a:t>
            </a:r>
          </a:p>
          <a:p>
            <a:pPr marL="342900" indent="-342900">
              <a:lnSpc>
                <a:spcPct val="150000"/>
              </a:lnSpc>
              <a:buFont typeface="Wingdings" panose="05000000000000000000" pitchFamily="2" charset="2"/>
              <a:buChar char="ü"/>
            </a:pPr>
            <a:endParaRPr lang="en-IN" sz="1800" b="1" dirty="0">
              <a:solidFill>
                <a:srgbClr val="0000FF"/>
              </a:solidFill>
            </a:endParaRPr>
          </a:p>
          <a:p>
            <a:pPr marL="342900" indent="-342900">
              <a:lnSpc>
                <a:spcPct val="150000"/>
              </a:lnSpc>
              <a:buFont typeface="Wingdings" panose="05000000000000000000" pitchFamily="2" charset="2"/>
              <a:buChar char="ü"/>
            </a:pPr>
            <a:r>
              <a:rPr lang="en-IN" sz="1800" b="1" dirty="0">
                <a:solidFill>
                  <a:srgbClr val="0000FF"/>
                </a:solidFill>
              </a:rPr>
              <a:t>Identification of Problem Statement</a:t>
            </a:r>
          </a:p>
          <a:p>
            <a:pPr marL="342900" indent="-342900">
              <a:lnSpc>
                <a:spcPct val="150000"/>
              </a:lnSpc>
              <a:buFont typeface="Wingdings" panose="05000000000000000000" pitchFamily="2" charset="2"/>
              <a:buChar char="ü"/>
            </a:pPr>
            <a:endParaRPr lang="en-IN" sz="1800" b="1" dirty="0">
              <a:solidFill>
                <a:srgbClr val="0000FF"/>
              </a:solidFill>
            </a:endParaRPr>
          </a:p>
          <a:p>
            <a:pPr marL="342900" indent="-342900">
              <a:lnSpc>
                <a:spcPct val="150000"/>
              </a:lnSpc>
              <a:buFont typeface="Wingdings" panose="05000000000000000000" pitchFamily="2" charset="2"/>
              <a:buChar char="ü"/>
            </a:pPr>
            <a:r>
              <a:rPr lang="en-IN" sz="1800" b="1" dirty="0">
                <a:solidFill>
                  <a:srgbClr val="0000FF"/>
                </a:solidFill>
              </a:rPr>
              <a:t>Requirements Elicitation</a:t>
            </a:r>
          </a:p>
          <a:p>
            <a:pPr marL="342900" indent="-342900">
              <a:lnSpc>
                <a:spcPct val="150000"/>
              </a:lnSpc>
              <a:buFont typeface="Wingdings" panose="05000000000000000000" pitchFamily="2" charset="2"/>
              <a:buChar char="ü"/>
            </a:pPr>
            <a:endParaRPr lang="en-IN" sz="1800" b="1" dirty="0">
              <a:solidFill>
                <a:srgbClr val="0000FF"/>
              </a:solidFill>
            </a:endParaRPr>
          </a:p>
          <a:p>
            <a:pPr marL="342900" indent="-342900">
              <a:lnSpc>
                <a:spcPct val="150000"/>
              </a:lnSpc>
              <a:buFont typeface="Wingdings" panose="05000000000000000000" pitchFamily="2" charset="2"/>
              <a:buChar char="ü"/>
            </a:pPr>
            <a:r>
              <a:rPr lang="en-IN" sz="1800" b="1" dirty="0">
                <a:solidFill>
                  <a:srgbClr val="0000FF"/>
                </a:solidFill>
              </a:rPr>
              <a:t>Feasibility Study</a:t>
            </a:r>
          </a:p>
          <a:p>
            <a:pPr marL="342900" indent="-342900">
              <a:lnSpc>
                <a:spcPct val="150000"/>
              </a:lnSpc>
              <a:buFont typeface="Wingdings" panose="05000000000000000000" pitchFamily="2" charset="2"/>
              <a:buChar char="ü"/>
            </a:pPr>
            <a:endParaRPr lang="en-IN" sz="1800" b="1" dirty="0">
              <a:solidFill>
                <a:srgbClr val="0000FF"/>
              </a:solidFill>
            </a:endParaRPr>
          </a:p>
          <a:p>
            <a:pPr marL="342900" indent="-342900">
              <a:lnSpc>
                <a:spcPct val="150000"/>
              </a:lnSpc>
              <a:buFont typeface="Wingdings" panose="05000000000000000000" pitchFamily="2" charset="2"/>
              <a:buChar char="ü"/>
            </a:pPr>
            <a:r>
              <a:rPr lang="en-IN" sz="1800" b="1" dirty="0">
                <a:solidFill>
                  <a:srgbClr val="0000FF"/>
                </a:solidFill>
              </a:rPr>
              <a:t>Setting up a project timeline using Gantt chart </a:t>
            </a:r>
          </a:p>
          <a:p>
            <a:pPr marL="342900" indent="-342900">
              <a:lnSpc>
                <a:spcPct val="150000"/>
              </a:lnSpc>
              <a:buFont typeface="Wingdings" panose="05000000000000000000" pitchFamily="2" charset="2"/>
              <a:buChar char="ü"/>
            </a:pPr>
            <a:endParaRPr lang="en-IN" sz="1800" b="1" dirty="0">
              <a:solidFill>
                <a:srgbClr val="0000FF"/>
              </a:solidFill>
            </a:endParaRPr>
          </a:p>
          <a:p>
            <a:pPr marL="342900" indent="-342900">
              <a:lnSpc>
                <a:spcPct val="150000"/>
              </a:lnSpc>
              <a:buFont typeface="Wingdings" panose="05000000000000000000" pitchFamily="2" charset="2"/>
              <a:buChar char="ü"/>
            </a:pPr>
            <a:r>
              <a:rPr lang="en-IN" sz="1800" b="1" dirty="0">
                <a:solidFill>
                  <a:srgbClr val="0000FF"/>
                </a:solidFill>
              </a:rPr>
              <a:t>Creating a summary presentation of our idea</a:t>
            </a:r>
          </a:p>
          <a:p>
            <a:pPr>
              <a:lnSpc>
                <a:spcPct val="150000"/>
              </a:lnSpc>
            </a:pPr>
            <a:endParaRPr lang="en-IN" sz="1800" b="1" dirty="0">
              <a:solidFill>
                <a:srgbClr val="0000FF"/>
              </a:solidFill>
            </a:endParaRPr>
          </a:p>
        </p:txBody>
      </p:sp>
    </p:spTree>
    <p:extLst>
      <p:ext uri="{BB962C8B-B14F-4D97-AF65-F5344CB8AC3E}">
        <p14:creationId xmlns:p14="http://schemas.microsoft.com/office/powerpoint/2010/main" val="73442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93AA17-2BD0-7485-158C-996686671EF8}"/>
              </a:ext>
            </a:extLst>
          </p:cNvPr>
          <p:cNvSpPr txBox="1"/>
          <p:nvPr/>
        </p:nvSpPr>
        <p:spPr>
          <a:xfrm>
            <a:off x="2665602" y="164217"/>
            <a:ext cx="6094602" cy="707886"/>
          </a:xfrm>
          <a:prstGeom prst="rect">
            <a:avLst/>
          </a:prstGeom>
          <a:noFill/>
        </p:spPr>
        <p:txBody>
          <a:bodyPr wrap="square">
            <a:spAutoFit/>
          </a:bodyPr>
          <a:lstStyle/>
          <a:p>
            <a:pPr marL="342900" indent="-342900" algn="r" eaLnBrk="0" hangingPunct="0">
              <a:spcBef>
                <a:spcPts val="0"/>
              </a:spcBef>
              <a:spcAft>
                <a:spcPts val="0"/>
              </a:spcAft>
              <a:defRPr/>
            </a:pPr>
            <a:r>
              <a:rPr lang="en-IN" sz="4000" b="1" dirty="0">
                <a:solidFill>
                  <a:srgbClr val="FF0000"/>
                </a:solidFill>
                <a:latin typeface="Trebuchet MS"/>
              </a:rPr>
              <a:t>Capstone-2 Deliverables</a:t>
            </a:r>
            <a:endParaRPr lang="en-US" sz="4000" b="1" dirty="0">
              <a:solidFill>
                <a:srgbClr val="FF0000"/>
              </a:solidFill>
              <a:latin typeface="Trebuchet MS"/>
            </a:endParaRPr>
          </a:p>
        </p:txBody>
      </p:sp>
      <p:sp>
        <p:nvSpPr>
          <p:cNvPr id="4" name="Rectangle 3">
            <a:extLst>
              <a:ext uri="{FF2B5EF4-FFF2-40B4-BE49-F238E27FC236}">
                <a16:creationId xmlns:a16="http://schemas.microsoft.com/office/drawing/2014/main" id="{0F14A67B-9303-8EFC-49B3-6C90469F2C54}"/>
              </a:ext>
            </a:extLst>
          </p:cNvPr>
          <p:cNvSpPr>
            <a:spLocks noChangeArrowheads="1"/>
          </p:cNvSpPr>
          <p:nvPr/>
        </p:nvSpPr>
        <p:spPr bwMode="auto">
          <a:xfrm>
            <a:off x="685800" y="914400"/>
            <a:ext cx="9601200" cy="45719"/>
          </a:xfrm>
          <a:prstGeom prst="rect">
            <a:avLst/>
          </a:prstGeom>
          <a:solidFill>
            <a:srgbClr val="33CCCC"/>
          </a:solidFill>
          <a:ln w="9525">
            <a:noFill/>
            <a:miter lim="800000"/>
            <a:headEnd/>
            <a:tailEnd/>
          </a:ln>
        </p:spPr>
        <p:txBody>
          <a:bodyPr wrap="none" anchor="ctr"/>
          <a:lstStyle/>
          <a:p>
            <a:endParaRPr lang="en-US"/>
          </a:p>
        </p:txBody>
      </p:sp>
      <p:sp>
        <p:nvSpPr>
          <p:cNvPr id="6" name="TextBox 5">
            <a:extLst>
              <a:ext uri="{FF2B5EF4-FFF2-40B4-BE49-F238E27FC236}">
                <a16:creationId xmlns:a16="http://schemas.microsoft.com/office/drawing/2014/main" id="{43937F7F-83EF-9203-505E-6715F2D7489D}"/>
              </a:ext>
            </a:extLst>
          </p:cNvPr>
          <p:cNvSpPr txBox="1"/>
          <p:nvPr/>
        </p:nvSpPr>
        <p:spPr>
          <a:xfrm>
            <a:off x="379602" y="1752600"/>
            <a:ext cx="8382000" cy="3780522"/>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sz="1800" b="1" dirty="0">
                <a:solidFill>
                  <a:srgbClr val="0000FF"/>
                </a:solidFill>
              </a:rPr>
              <a:t>Acquiring/Creating relevant datasets</a:t>
            </a:r>
          </a:p>
          <a:p>
            <a:pPr marL="342900" indent="-342900">
              <a:lnSpc>
                <a:spcPct val="150000"/>
              </a:lnSpc>
              <a:buFont typeface="Courier New" panose="02070309020205020404" pitchFamily="49" charset="0"/>
              <a:buChar char="o"/>
            </a:pPr>
            <a:endParaRPr lang="en-IN" sz="1800" b="1" dirty="0">
              <a:solidFill>
                <a:srgbClr val="0000FF"/>
              </a:solidFill>
            </a:endParaRPr>
          </a:p>
          <a:p>
            <a:pPr marL="285750" indent="-285750">
              <a:lnSpc>
                <a:spcPct val="150000"/>
              </a:lnSpc>
              <a:buFont typeface="Wingdings" panose="05000000000000000000" pitchFamily="2" charset="2"/>
              <a:buChar char="ü"/>
            </a:pPr>
            <a:r>
              <a:rPr lang="en-IN" sz="1800" b="1" dirty="0">
                <a:solidFill>
                  <a:srgbClr val="0000FF"/>
                </a:solidFill>
              </a:rPr>
              <a:t>Choosing the appropriate software tools that will be used for the project</a:t>
            </a:r>
          </a:p>
          <a:p>
            <a:pPr marL="342900" indent="-342900">
              <a:lnSpc>
                <a:spcPct val="150000"/>
              </a:lnSpc>
              <a:buFont typeface="Courier New" panose="02070309020205020404" pitchFamily="49" charset="0"/>
              <a:buChar char="o"/>
            </a:pPr>
            <a:endParaRPr lang="en-IN" sz="1800" b="1" dirty="0">
              <a:solidFill>
                <a:srgbClr val="0000FF"/>
              </a:solidFill>
            </a:endParaRPr>
          </a:p>
          <a:p>
            <a:pPr marL="285750" indent="-285750">
              <a:lnSpc>
                <a:spcPct val="150000"/>
              </a:lnSpc>
              <a:buFont typeface="Wingdings" panose="05000000000000000000" pitchFamily="2" charset="2"/>
              <a:buChar char="ü"/>
            </a:pPr>
            <a:r>
              <a:rPr lang="en-IN" sz="1800" b="1" dirty="0">
                <a:solidFill>
                  <a:srgbClr val="0000FF"/>
                </a:solidFill>
              </a:rPr>
              <a:t>Creating a detailed workflow</a:t>
            </a:r>
          </a:p>
          <a:p>
            <a:pPr>
              <a:lnSpc>
                <a:spcPct val="150000"/>
              </a:lnSpc>
            </a:pPr>
            <a:endParaRPr lang="en-IN" sz="1800" b="1" dirty="0">
              <a:solidFill>
                <a:srgbClr val="0000FF"/>
              </a:solidFill>
            </a:endParaRPr>
          </a:p>
          <a:p>
            <a:pPr marL="285750" indent="-285750">
              <a:lnSpc>
                <a:spcPct val="150000"/>
              </a:lnSpc>
              <a:buFont typeface="Wingdings" panose="05000000000000000000" pitchFamily="2" charset="2"/>
              <a:buChar char="ü"/>
            </a:pPr>
            <a:r>
              <a:rPr lang="en-IN" sz="1800" b="1" dirty="0">
                <a:solidFill>
                  <a:srgbClr val="0000FF"/>
                </a:solidFill>
              </a:rPr>
              <a:t>Creating a prototype based on the datasets collected</a:t>
            </a:r>
          </a:p>
          <a:p>
            <a:pPr>
              <a:lnSpc>
                <a:spcPct val="150000"/>
              </a:lnSpc>
            </a:pPr>
            <a:endParaRPr lang="en-IN" sz="1800" b="1" dirty="0">
              <a:solidFill>
                <a:srgbClr val="0000FF"/>
              </a:solidFill>
            </a:endParaRPr>
          </a:p>
          <a:p>
            <a:pPr marL="285750" indent="-285750">
              <a:lnSpc>
                <a:spcPct val="150000"/>
              </a:lnSpc>
              <a:buFont typeface="Wingdings" panose="05000000000000000000" pitchFamily="2" charset="2"/>
              <a:buChar char="ü"/>
            </a:pPr>
            <a:r>
              <a:rPr lang="en-IN" sz="1800" b="1" dirty="0">
                <a:solidFill>
                  <a:srgbClr val="0000FF"/>
                </a:solidFill>
              </a:rPr>
              <a:t>High-Level Design</a:t>
            </a:r>
          </a:p>
        </p:txBody>
      </p:sp>
    </p:spTree>
    <p:extLst>
      <p:ext uri="{BB962C8B-B14F-4D97-AF65-F5344CB8AC3E}">
        <p14:creationId xmlns:p14="http://schemas.microsoft.com/office/powerpoint/2010/main" val="446759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EB4EB1-523B-BD65-96D4-B2BF652BC9C7}"/>
              </a:ext>
            </a:extLst>
          </p:cNvPr>
          <p:cNvSpPr txBox="1"/>
          <p:nvPr/>
        </p:nvSpPr>
        <p:spPr>
          <a:xfrm>
            <a:off x="914400" y="228600"/>
            <a:ext cx="8991600" cy="1323439"/>
          </a:xfrm>
          <a:prstGeom prst="rect">
            <a:avLst/>
          </a:prstGeom>
          <a:noFill/>
        </p:spPr>
        <p:txBody>
          <a:bodyPr wrap="square">
            <a:spAutoFit/>
          </a:bodyPr>
          <a:lstStyle/>
          <a:p>
            <a:pPr marL="342900" indent="-342900" algn="r" eaLnBrk="0" hangingPunct="0">
              <a:spcBef>
                <a:spcPts val="0"/>
              </a:spcBef>
              <a:spcAft>
                <a:spcPts val="0"/>
              </a:spcAft>
              <a:defRPr/>
            </a:pPr>
            <a:r>
              <a:rPr lang="en-IN" sz="4000" b="1" dirty="0">
                <a:solidFill>
                  <a:srgbClr val="FF0000"/>
                </a:solidFill>
              </a:rPr>
              <a:t>PLAN OF WORK FOR CAPSTONE 3 </a:t>
            </a:r>
          </a:p>
          <a:p>
            <a:pPr marL="342900" indent="-342900" algn="r" eaLnBrk="0" hangingPunct="0">
              <a:spcBef>
                <a:spcPts val="0"/>
              </a:spcBef>
              <a:spcAft>
                <a:spcPts val="0"/>
              </a:spcAft>
              <a:defRPr/>
            </a:pPr>
            <a:endParaRPr lang="en-US" sz="4000" b="1" dirty="0">
              <a:solidFill>
                <a:srgbClr val="FF0000"/>
              </a:solidFill>
              <a:latin typeface="Trebuchet MS"/>
            </a:endParaRPr>
          </a:p>
        </p:txBody>
      </p:sp>
      <p:sp>
        <p:nvSpPr>
          <p:cNvPr id="4" name="Rectangle 3">
            <a:extLst>
              <a:ext uri="{FF2B5EF4-FFF2-40B4-BE49-F238E27FC236}">
                <a16:creationId xmlns:a16="http://schemas.microsoft.com/office/drawing/2014/main" id="{04136759-19DF-683B-F78C-2B699390ADBA}"/>
              </a:ext>
            </a:extLst>
          </p:cNvPr>
          <p:cNvSpPr>
            <a:spLocks noChangeArrowheads="1"/>
          </p:cNvSpPr>
          <p:nvPr/>
        </p:nvSpPr>
        <p:spPr bwMode="auto">
          <a:xfrm>
            <a:off x="838200" y="936486"/>
            <a:ext cx="9601200" cy="45719"/>
          </a:xfrm>
          <a:prstGeom prst="rect">
            <a:avLst/>
          </a:prstGeom>
          <a:solidFill>
            <a:srgbClr val="33CCCC"/>
          </a:solidFill>
          <a:ln w="9525">
            <a:noFill/>
            <a:miter lim="800000"/>
            <a:headEnd/>
            <a:tailEnd/>
          </a:ln>
        </p:spPr>
        <p:txBody>
          <a:bodyPr wrap="none" anchor="ctr"/>
          <a:lstStyle/>
          <a:p>
            <a:endParaRPr lang="en-US"/>
          </a:p>
        </p:txBody>
      </p:sp>
      <p:sp>
        <p:nvSpPr>
          <p:cNvPr id="6" name="TextBox 5">
            <a:extLst>
              <a:ext uri="{FF2B5EF4-FFF2-40B4-BE49-F238E27FC236}">
                <a16:creationId xmlns:a16="http://schemas.microsoft.com/office/drawing/2014/main" id="{F60343AE-6207-9820-6B9D-6876293743A4}"/>
              </a:ext>
            </a:extLst>
          </p:cNvPr>
          <p:cNvSpPr txBox="1"/>
          <p:nvPr/>
        </p:nvSpPr>
        <p:spPr>
          <a:xfrm>
            <a:off x="266700" y="1690091"/>
            <a:ext cx="11658600" cy="389048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800" b="1" dirty="0">
                <a:solidFill>
                  <a:srgbClr val="0000FF"/>
                </a:solidFill>
              </a:rPr>
              <a:t>Creating Replay Dataset </a:t>
            </a:r>
          </a:p>
          <a:p>
            <a:pPr marL="285750" indent="-285750">
              <a:lnSpc>
                <a:spcPct val="150000"/>
              </a:lnSpc>
              <a:buFont typeface="Arial" panose="020B0604020202020204" pitchFamily="34" charset="0"/>
              <a:buChar char="•"/>
            </a:pPr>
            <a:r>
              <a:rPr lang="en-IN" sz="2800" b="1" dirty="0">
                <a:solidFill>
                  <a:srgbClr val="0000FF"/>
                </a:solidFill>
              </a:rPr>
              <a:t>Training the model (HTM + Optical Flow) for replay attack detection</a:t>
            </a:r>
          </a:p>
          <a:p>
            <a:pPr marL="285750" indent="-285750">
              <a:lnSpc>
                <a:spcPct val="150000"/>
              </a:lnSpc>
              <a:buFont typeface="Arial" panose="020B0604020202020204" pitchFamily="34" charset="0"/>
              <a:buChar char="•"/>
            </a:pPr>
            <a:r>
              <a:rPr lang="en-IN" sz="2800" b="1" dirty="0">
                <a:solidFill>
                  <a:srgbClr val="0000FF"/>
                </a:solidFill>
              </a:rPr>
              <a:t>Sending Real time alerts to users upon detection of replay attacks </a:t>
            </a:r>
          </a:p>
          <a:p>
            <a:pPr marL="285750" indent="-285750">
              <a:lnSpc>
                <a:spcPct val="150000"/>
              </a:lnSpc>
              <a:buFont typeface="Arial" panose="020B0604020202020204" pitchFamily="34" charset="0"/>
              <a:buChar char="•"/>
            </a:pPr>
            <a:r>
              <a:rPr lang="en-IN" sz="2800" b="1" dirty="0">
                <a:solidFill>
                  <a:srgbClr val="0000FF"/>
                </a:solidFill>
              </a:rPr>
              <a:t>Hashing of frames using SHA-256 (or similar) for enhanced security</a:t>
            </a:r>
          </a:p>
        </p:txBody>
      </p:sp>
    </p:spTree>
    <p:extLst>
      <p:ext uri="{BB962C8B-B14F-4D97-AF65-F5344CB8AC3E}">
        <p14:creationId xmlns:p14="http://schemas.microsoft.com/office/powerpoint/2010/main" val="2726873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82A8C2-A441-F575-1EF5-B5441309BD9B}"/>
              </a:ext>
            </a:extLst>
          </p:cNvPr>
          <p:cNvSpPr txBox="1"/>
          <p:nvPr/>
        </p:nvSpPr>
        <p:spPr>
          <a:xfrm>
            <a:off x="457200" y="293194"/>
            <a:ext cx="9601200" cy="1077218"/>
          </a:xfrm>
          <a:prstGeom prst="rect">
            <a:avLst/>
          </a:prstGeom>
          <a:noFill/>
        </p:spPr>
        <p:txBody>
          <a:bodyPr wrap="square">
            <a:spAutoFit/>
          </a:bodyPr>
          <a:lstStyle/>
          <a:p>
            <a:pPr marL="342900" indent="-342900" algn="r" eaLnBrk="0" hangingPunct="0">
              <a:spcBef>
                <a:spcPts val="0"/>
              </a:spcBef>
              <a:spcAft>
                <a:spcPts val="0"/>
              </a:spcAft>
              <a:defRPr/>
            </a:pPr>
            <a:r>
              <a:rPr lang="en-IN" sz="3200" b="1" dirty="0">
                <a:solidFill>
                  <a:srgbClr val="FF0000"/>
                </a:solidFill>
              </a:rPr>
              <a:t>EFFORT CARRIED OUT BY EACH TEAMMATE</a:t>
            </a:r>
          </a:p>
          <a:p>
            <a:pPr marL="342900" indent="-342900" algn="r" eaLnBrk="0" hangingPunct="0">
              <a:spcBef>
                <a:spcPts val="0"/>
              </a:spcBef>
              <a:spcAft>
                <a:spcPts val="0"/>
              </a:spcAft>
              <a:defRPr/>
            </a:pPr>
            <a:endParaRPr lang="en-US" sz="3200" b="1" dirty="0">
              <a:solidFill>
                <a:srgbClr val="FF0000"/>
              </a:solidFill>
              <a:latin typeface="Trebuchet MS"/>
            </a:endParaRPr>
          </a:p>
        </p:txBody>
      </p:sp>
      <p:sp>
        <p:nvSpPr>
          <p:cNvPr id="4" name="Rectangle 3">
            <a:extLst>
              <a:ext uri="{FF2B5EF4-FFF2-40B4-BE49-F238E27FC236}">
                <a16:creationId xmlns:a16="http://schemas.microsoft.com/office/drawing/2014/main" id="{9678EE07-F02A-2275-E213-C754BE13EA11}"/>
              </a:ext>
            </a:extLst>
          </p:cNvPr>
          <p:cNvSpPr>
            <a:spLocks noChangeArrowheads="1"/>
          </p:cNvSpPr>
          <p:nvPr/>
        </p:nvSpPr>
        <p:spPr bwMode="auto">
          <a:xfrm>
            <a:off x="685800" y="914400"/>
            <a:ext cx="9601200" cy="45719"/>
          </a:xfrm>
          <a:prstGeom prst="rect">
            <a:avLst/>
          </a:prstGeom>
          <a:solidFill>
            <a:srgbClr val="33CCCC"/>
          </a:solidFill>
          <a:ln w="9525">
            <a:noFill/>
            <a:miter lim="800000"/>
            <a:headEnd/>
            <a:tailEnd/>
          </a:ln>
        </p:spPr>
        <p:txBody>
          <a:bodyPr wrap="none" anchor="ctr"/>
          <a:lstStyle/>
          <a:p>
            <a:endParaRPr lang="en-US"/>
          </a:p>
        </p:txBody>
      </p:sp>
      <p:graphicFrame>
        <p:nvGraphicFramePr>
          <p:cNvPr id="5" name="Table 4">
            <a:extLst>
              <a:ext uri="{FF2B5EF4-FFF2-40B4-BE49-F238E27FC236}">
                <a16:creationId xmlns:a16="http://schemas.microsoft.com/office/drawing/2014/main" id="{E6CCF08A-D47A-FBFA-885D-47284AD545C7}"/>
              </a:ext>
            </a:extLst>
          </p:cNvPr>
          <p:cNvGraphicFramePr>
            <a:graphicFrameLocks noGrp="1"/>
          </p:cNvGraphicFramePr>
          <p:nvPr>
            <p:extLst>
              <p:ext uri="{D42A27DB-BD31-4B8C-83A1-F6EECF244321}">
                <p14:modId xmlns:p14="http://schemas.microsoft.com/office/powerpoint/2010/main" val="649066446"/>
              </p:ext>
            </p:extLst>
          </p:nvPr>
        </p:nvGraphicFramePr>
        <p:xfrm>
          <a:off x="990600" y="1295400"/>
          <a:ext cx="9753600" cy="5105401"/>
        </p:xfrm>
        <a:graphic>
          <a:graphicData uri="http://schemas.openxmlformats.org/drawingml/2006/table">
            <a:tbl>
              <a:tblPr firstRow="1" bandRow="1">
                <a:tableStyleId>{5C22544A-7EE6-4342-B048-85BDC9FD1C3A}</a:tableStyleId>
              </a:tblPr>
              <a:tblGrid>
                <a:gridCol w="2717074">
                  <a:extLst>
                    <a:ext uri="{9D8B030D-6E8A-4147-A177-3AD203B41FA5}">
                      <a16:colId xmlns:a16="http://schemas.microsoft.com/office/drawing/2014/main" val="3678241559"/>
                    </a:ext>
                  </a:extLst>
                </a:gridCol>
                <a:gridCol w="3226526">
                  <a:extLst>
                    <a:ext uri="{9D8B030D-6E8A-4147-A177-3AD203B41FA5}">
                      <a16:colId xmlns:a16="http://schemas.microsoft.com/office/drawing/2014/main" val="2175820121"/>
                    </a:ext>
                  </a:extLst>
                </a:gridCol>
                <a:gridCol w="1952897">
                  <a:extLst>
                    <a:ext uri="{9D8B030D-6E8A-4147-A177-3AD203B41FA5}">
                      <a16:colId xmlns:a16="http://schemas.microsoft.com/office/drawing/2014/main" val="3451093920"/>
                    </a:ext>
                  </a:extLst>
                </a:gridCol>
                <a:gridCol w="1857103">
                  <a:extLst>
                    <a:ext uri="{9D8B030D-6E8A-4147-A177-3AD203B41FA5}">
                      <a16:colId xmlns:a16="http://schemas.microsoft.com/office/drawing/2014/main" val="767061948"/>
                    </a:ext>
                  </a:extLst>
                </a:gridCol>
              </a:tblGrid>
              <a:tr h="628949">
                <a:tc>
                  <a:txBody>
                    <a:bodyPr/>
                    <a:lstStyle/>
                    <a:p>
                      <a:pPr algn="ctr"/>
                      <a:r>
                        <a:rPr lang="en-IN" dirty="0"/>
                        <a:t>TEAM MEMBER </a:t>
                      </a:r>
                    </a:p>
                  </a:txBody>
                  <a:tcPr/>
                </a:tc>
                <a:tc>
                  <a:txBody>
                    <a:bodyPr/>
                    <a:lstStyle/>
                    <a:p>
                      <a:pPr algn="ctr"/>
                      <a:r>
                        <a:rPr lang="en-IN" dirty="0"/>
                        <a:t>TASK</a:t>
                      </a:r>
                    </a:p>
                  </a:txBody>
                  <a:tcPr/>
                </a:tc>
                <a:tc>
                  <a:txBody>
                    <a:bodyPr/>
                    <a:lstStyle/>
                    <a:p>
                      <a:pPr algn="ctr"/>
                      <a:r>
                        <a:rPr lang="en-IN" dirty="0"/>
                        <a:t>LOC</a:t>
                      </a:r>
                    </a:p>
                  </a:txBody>
                  <a:tcPr/>
                </a:tc>
                <a:tc>
                  <a:txBody>
                    <a:bodyPr/>
                    <a:lstStyle/>
                    <a:p>
                      <a:pPr algn="ctr"/>
                      <a:r>
                        <a:rPr lang="en-IN" dirty="0"/>
                        <a:t>TIME SPENT </a:t>
                      </a:r>
                    </a:p>
                  </a:txBody>
                  <a:tcPr/>
                </a:tc>
                <a:extLst>
                  <a:ext uri="{0D108BD9-81ED-4DB2-BD59-A6C34878D82A}">
                    <a16:rowId xmlns:a16="http://schemas.microsoft.com/office/drawing/2014/main" val="2852480943"/>
                  </a:ext>
                </a:extLst>
              </a:tr>
              <a:tr h="1119113">
                <a:tc>
                  <a:txBody>
                    <a:bodyPr/>
                    <a:lstStyle/>
                    <a:p>
                      <a:r>
                        <a:rPr lang="en-IN" dirty="0"/>
                        <a:t>Soumya Ranjan Mishra</a:t>
                      </a:r>
                    </a:p>
                  </a:txBody>
                  <a:tcPr/>
                </a:tc>
                <a:tc>
                  <a:txBody>
                    <a:bodyPr/>
                    <a:lstStyle/>
                    <a:p>
                      <a:r>
                        <a:rPr lang="en-IN" dirty="0"/>
                        <a:t>RTSP Streaming, Automation of replay attack</a:t>
                      </a:r>
                    </a:p>
                  </a:txBody>
                  <a:tcPr/>
                </a:tc>
                <a:tc>
                  <a:txBody>
                    <a:bodyPr/>
                    <a:lstStyle/>
                    <a:p>
                      <a:pPr algn="ctr"/>
                      <a:r>
                        <a:rPr lang="en-IN" dirty="0"/>
                        <a:t>400</a:t>
                      </a:r>
                    </a:p>
                  </a:txBody>
                  <a:tcPr/>
                </a:tc>
                <a:tc>
                  <a:txBody>
                    <a:bodyPr/>
                    <a:lstStyle/>
                    <a:p>
                      <a:r>
                        <a:rPr lang="en-IN" dirty="0"/>
                        <a:t>16-18 hrs</a:t>
                      </a:r>
                    </a:p>
                  </a:txBody>
                  <a:tcPr/>
                </a:tc>
                <a:extLst>
                  <a:ext uri="{0D108BD9-81ED-4DB2-BD59-A6C34878D82A}">
                    <a16:rowId xmlns:a16="http://schemas.microsoft.com/office/drawing/2014/main" val="2599290045"/>
                  </a:ext>
                </a:extLst>
              </a:tr>
              <a:tr h="1119113">
                <a:tc>
                  <a:txBody>
                    <a:bodyPr/>
                    <a:lstStyle/>
                    <a:p>
                      <a:r>
                        <a:rPr lang="en-IN" dirty="0"/>
                        <a:t>Shreyas S</a:t>
                      </a:r>
                    </a:p>
                  </a:txBody>
                  <a:tcPr/>
                </a:tc>
                <a:tc>
                  <a:txBody>
                    <a:bodyPr/>
                    <a:lstStyle/>
                    <a:p>
                      <a:r>
                        <a:rPr lang="en-IN" dirty="0"/>
                        <a:t>Automation of Replay Attack, Replay attack script</a:t>
                      </a:r>
                    </a:p>
                  </a:txBody>
                  <a:tcPr/>
                </a:tc>
                <a:tc>
                  <a:txBody>
                    <a:bodyPr/>
                    <a:lstStyle/>
                    <a:p>
                      <a:pPr algn="ctr"/>
                      <a:r>
                        <a:rPr lang="en-IN" dirty="0"/>
                        <a:t>400</a:t>
                      </a:r>
                    </a:p>
                  </a:txBody>
                  <a:tcPr/>
                </a:tc>
                <a:tc>
                  <a:txBody>
                    <a:bodyPr/>
                    <a:lstStyle/>
                    <a:p>
                      <a:r>
                        <a:rPr lang="en-IN" dirty="0"/>
                        <a:t>16-18 hrs</a:t>
                      </a:r>
                    </a:p>
                  </a:txBody>
                  <a:tcPr/>
                </a:tc>
                <a:extLst>
                  <a:ext uri="{0D108BD9-81ED-4DB2-BD59-A6C34878D82A}">
                    <a16:rowId xmlns:a16="http://schemas.microsoft.com/office/drawing/2014/main" val="1096126854"/>
                  </a:ext>
                </a:extLst>
              </a:tr>
              <a:tr h="1119113">
                <a:tc>
                  <a:txBody>
                    <a:bodyPr/>
                    <a:lstStyle/>
                    <a:p>
                      <a:r>
                        <a:rPr lang="en-IN" dirty="0"/>
                        <a:t>Suhas Venkata </a:t>
                      </a:r>
                    </a:p>
                  </a:txBody>
                  <a:tcPr/>
                </a:tc>
                <a:tc>
                  <a:txBody>
                    <a:bodyPr/>
                    <a:lstStyle/>
                    <a:p>
                      <a:r>
                        <a:rPr lang="en-IN" dirty="0"/>
                        <a:t>Pre-Processing and Visualization</a:t>
                      </a:r>
                    </a:p>
                  </a:txBody>
                  <a:tcPr/>
                </a:tc>
                <a:tc>
                  <a:txBody>
                    <a:bodyPr/>
                    <a:lstStyle/>
                    <a:p>
                      <a:pPr algn="ctr"/>
                      <a:r>
                        <a:rPr lang="en-IN" dirty="0"/>
                        <a:t>152</a:t>
                      </a:r>
                    </a:p>
                  </a:txBody>
                  <a:tcPr/>
                </a:tc>
                <a:tc>
                  <a:txBody>
                    <a:bodyPr/>
                    <a:lstStyle/>
                    <a:p>
                      <a:r>
                        <a:rPr lang="en-IN" dirty="0"/>
                        <a:t>5-6 hrs</a:t>
                      </a:r>
                    </a:p>
                  </a:txBody>
                  <a:tcPr/>
                </a:tc>
                <a:extLst>
                  <a:ext uri="{0D108BD9-81ED-4DB2-BD59-A6C34878D82A}">
                    <a16:rowId xmlns:a16="http://schemas.microsoft.com/office/drawing/2014/main" val="1759704293"/>
                  </a:ext>
                </a:extLst>
              </a:tr>
              <a:tr h="1119113">
                <a:tc>
                  <a:txBody>
                    <a:bodyPr/>
                    <a:lstStyle/>
                    <a:p>
                      <a:r>
                        <a:rPr lang="en-IN" dirty="0"/>
                        <a:t>Mohit PS</a:t>
                      </a:r>
                    </a:p>
                  </a:txBody>
                  <a:tcPr/>
                </a:tc>
                <a:tc>
                  <a:txBody>
                    <a:bodyPr/>
                    <a:lstStyle/>
                    <a:p>
                      <a:r>
                        <a:rPr lang="en-IN" dirty="0"/>
                        <a:t>High Level Design and defining of different modules </a:t>
                      </a:r>
                    </a:p>
                  </a:txBody>
                  <a:tcPr/>
                </a:tc>
                <a:tc>
                  <a:txBody>
                    <a:bodyPr/>
                    <a:lstStyle/>
                    <a:p>
                      <a:pPr algn="ctr"/>
                      <a:r>
                        <a:rPr lang="en-IN" dirty="0"/>
                        <a:t>--</a:t>
                      </a:r>
                    </a:p>
                  </a:txBody>
                  <a:tcPr/>
                </a:tc>
                <a:tc>
                  <a:txBody>
                    <a:bodyPr/>
                    <a:lstStyle/>
                    <a:p>
                      <a:r>
                        <a:rPr lang="en-IN" dirty="0"/>
                        <a:t>2-3 hrs</a:t>
                      </a:r>
                    </a:p>
                  </a:txBody>
                  <a:tcPr/>
                </a:tc>
                <a:extLst>
                  <a:ext uri="{0D108BD9-81ED-4DB2-BD59-A6C34878D82A}">
                    <a16:rowId xmlns:a16="http://schemas.microsoft.com/office/drawing/2014/main" val="2188901688"/>
                  </a:ext>
                </a:extLst>
              </a:tr>
            </a:tbl>
          </a:graphicData>
        </a:graphic>
      </p:graphicFrame>
    </p:spTree>
    <p:extLst>
      <p:ext uri="{BB962C8B-B14F-4D97-AF65-F5344CB8AC3E}">
        <p14:creationId xmlns:p14="http://schemas.microsoft.com/office/powerpoint/2010/main" val="4168022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617917-81FD-61CB-DDA4-4EF128B62D92}"/>
              </a:ext>
            </a:extLst>
          </p:cNvPr>
          <p:cNvSpPr txBox="1"/>
          <p:nvPr/>
        </p:nvSpPr>
        <p:spPr>
          <a:xfrm>
            <a:off x="-228600" y="152400"/>
            <a:ext cx="10058400" cy="1077218"/>
          </a:xfrm>
          <a:prstGeom prst="rect">
            <a:avLst/>
          </a:prstGeom>
          <a:noFill/>
        </p:spPr>
        <p:txBody>
          <a:bodyPr wrap="square">
            <a:spAutoFit/>
          </a:bodyPr>
          <a:lstStyle/>
          <a:p>
            <a:pPr marL="342900" indent="-342900" algn="r" eaLnBrk="0" hangingPunct="0">
              <a:spcBef>
                <a:spcPts val="0"/>
              </a:spcBef>
              <a:spcAft>
                <a:spcPts val="0"/>
              </a:spcAft>
              <a:defRPr/>
            </a:pPr>
            <a:r>
              <a:rPr lang="en-IN" sz="3200" b="1" dirty="0">
                <a:solidFill>
                  <a:srgbClr val="FF0000"/>
                </a:solidFill>
              </a:rPr>
              <a:t>TASKS COMPLETED IN CAPSTONE PHASE 2</a:t>
            </a:r>
          </a:p>
          <a:p>
            <a:pPr marL="342900" indent="-342900" algn="r" eaLnBrk="0" hangingPunct="0">
              <a:spcBef>
                <a:spcPts val="0"/>
              </a:spcBef>
              <a:spcAft>
                <a:spcPts val="0"/>
              </a:spcAft>
              <a:defRPr/>
            </a:pPr>
            <a:endParaRPr lang="en-US" sz="3200" b="1" dirty="0">
              <a:solidFill>
                <a:srgbClr val="FF0000"/>
              </a:solidFill>
              <a:latin typeface="Trebuchet MS"/>
            </a:endParaRPr>
          </a:p>
        </p:txBody>
      </p:sp>
      <p:sp>
        <p:nvSpPr>
          <p:cNvPr id="4" name="Rectangle 3">
            <a:extLst>
              <a:ext uri="{FF2B5EF4-FFF2-40B4-BE49-F238E27FC236}">
                <a16:creationId xmlns:a16="http://schemas.microsoft.com/office/drawing/2014/main" id="{4B475E99-19C0-0636-4120-F80EF20F1021}"/>
              </a:ext>
            </a:extLst>
          </p:cNvPr>
          <p:cNvSpPr>
            <a:spLocks noChangeArrowheads="1"/>
          </p:cNvSpPr>
          <p:nvPr/>
        </p:nvSpPr>
        <p:spPr bwMode="auto">
          <a:xfrm>
            <a:off x="609600" y="762000"/>
            <a:ext cx="9601200" cy="45719"/>
          </a:xfrm>
          <a:prstGeom prst="rect">
            <a:avLst/>
          </a:prstGeom>
          <a:solidFill>
            <a:srgbClr val="33CCCC"/>
          </a:solidFill>
          <a:ln w="9525">
            <a:noFill/>
            <a:miter lim="800000"/>
            <a:headEnd/>
            <a:tailEnd/>
          </a:ln>
        </p:spPr>
        <p:txBody>
          <a:bodyPr wrap="none" anchor="ctr"/>
          <a:lstStyle/>
          <a:p>
            <a:endParaRPr lang="en-US"/>
          </a:p>
        </p:txBody>
      </p:sp>
      <p:sp>
        <p:nvSpPr>
          <p:cNvPr id="5" name="TextBox 4">
            <a:extLst>
              <a:ext uri="{FF2B5EF4-FFF2-40B4-BE49-F238E27FC236}">
                <a16:creationId xmlns:a16="http://schemas.microsoft.com/office/drawing/2014/main" id="{F1DBD926-EC27-EB26-604A-23BB542C85E8}"/>
              </a:ext>
            </a:extLst>
          </p:cNvPr>
          <p:cNvSpPr txBox="1"/>
          <p:nvPr/>
        </p:nvSpPr>
        <p:spPr>
          <a:xfrm>
            <a:off x="3276600" y="1676400"/>
            <a:ext cx="4572000" cy="3671005"/>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IN" sz="2400" b="1" dirty="0">
                <a:solidFill>
                  <a:srgbClr val="0000FF"/>
                </a:solidFill>
              </a:rPr>
              <a:t>Data Pre-Processing</a:t>
            </a:r>
          </a:p>
          <a:p>
            <a:pPr marL="285750" indent="-285750">
              <a:lnSpc>
                <a:spcPct val="200000"/>
              </a:lnSpc>
              <a:buFont typeface="Wingdings" panose="05000000000000000000" pitchFamily="2" charset="2"/>
              <a:buChar char="ü"/>
            </a:pPr>
            <a:r>
              <a:rPr lang="en-IN" sz="2400" b="1" dirty="0">
                <a:solidFill>
                  <a:srgbClr val="0000FF"/>
                </a:solidFill>
              </a:rPr>
              <a:t>Data Visualization</a:t>
            </a:r>
          </a:p>
          <a:p>
            <a:pPr marL="285750" indent="-285750">
              <a:lnSpc>
                <a:spcPct val="200000"/>
              </a:lnSpc>
              <a:buFont typeface="Wingdings" panose="05000000000000000000" pitchFamily="2" charset="2"/>
              <a:buChar char="ü"/>
            </a:pPr>
            <a:r>
              <a:rPr lang="en-IN" sz="2400" b="1" dirty="0">
                <a:solidFill>
                  <a:srgbClr val="0000FF"/>
                </a:solidFill>
              </a:rPr>
              <a:t>RTSP Streaming Setup</a:t>
            </a:r>
          </a:p>
          <a:p>
            <a:pPr marL="285750" indent="-285750">
              <a:lnSpc>
                <a:spcPct val="200000"/>
              </a:lnSpc>
              <a:buFont typeface="Wingdings" panose="05000000000000000000" pitchFamily="2" charset="2"/>
              <a:buChar char="ü"/>
            </a:pPr>
            <a:r>
              <a:rPr lang="en-IN" sz="2400" b="1" dirty="0">
                <a:solidFill>
                  <a:srgbClr val="0000FF"/>
                </a:solidFill>
              </a:rPr>
              <a:t>Simulation Of Replay Attack</a:t>
            </a:r>
          </a:p>
          <a:p>
            <a:pPr marL="285750" indent="-285750">
              <a:lnSpc>
                <a:spcPct val="200000"/>
              </a:lnSpc>
              <a:buFont typeface="Wingdings" panose="05000000000000000000" pitchFamily="2" charset="2"/>
              <a:buChar char="ü"/>
            </a:pPr>
            <a:endParaRPr lang="en-IN" sz="2400" b="1" dirty="0">
              <a:solidFill>
                <a:srgbClr val="0000FF"/>
              </a:solidFill>
            </a:endParaRPr>
          </a:p>
        </p:txBody>
      </p:sp>
    </p:spTree>
    <p:extLst>
      <p:ext uri="{BB962C8B-B14F-4D97-AF65-F5344CB8AC3E}">
        <p14:creationId xmlns:p14="http://schemas.microsoft.com/office/powerpoint/2010/main" val="3840845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057400" y="689629"/>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4114800" y="0"/>
            <a:ext cx="2971800" cy="707886"/>
          </a:xfrm>
          <a:prstGeom prst="rect">
            <a:avLst/>
          </a:prstGeom>
          <a:noFill/>
          <a:ln w="9525">
            <a:noFill/>
            <a:miter lim="800000"/>
            <a:headEnd/>
            <a:tailEnd/>
          </a:ln>
        </p:spPr>
        <p:txBody>
          <a:bodyPr wrap="square">
            <a:spAutoFit/>
          </a:bodyPr>
          <a:lstStyle/>
          <a:p>
            <a:pPr marL="342900" lvl="0" indent="-342900" algn="r">
              <a:spcBef>
                <a:spcPts val="0"/>
              </a:spcBef>
              <a:spcAft>
                <a:spcPts val="0"/>
              </a:spcAft>
            </a:pPr>
            <a:r>
              <a:rPr lang="en-US" sz="4000" b="1" dirty="0">
                <a:solidFill>
                  <a:srgbClr val="FF0000"/>
                </a:solidFill>
                <a:latin typeface="Trebuchet MS"/>
                <a:ea typeface="Trebuchet MS"/>
                <a:cs typeface="Trebuchet MS"/>
                <a:sym typeface="Trebuchet MS"/>
              </a:rPr>
              <a:t>Conclusion</a:t>
            </a:r>
            <a:endParaRPr lang="en-US" sz="4000" b="1" dirty="0"/>
          </a:p>
        </p:txBody>
      </p:sp>
      <p:sp>
        <p:nvSpPr>
          <p:cNvPr id="5" name="TextBox 4">
            <a:extLst>
              <a:ext uri="{FF2B5EF4-FFF2-40B4-BE49-F238E27FC236}">
                <a16:creationId xmlns:a16="http://schemas.microsoft.com/office/drawing/2014/main" id="{EBB10B19-4157-41B3-85CA-452455B519DD}"/>
              </a:ext>
            </a:extLst>
          </p:cNvPr>
          <p:cNvSpPr txBox="1"/>
          <p:nvPr/>
        </p:nvSpPr>
        <p:spPr>
          <a:xfrm>
            <a:off x="457200" y="990600"/>
            <a:ext cx="11125200" cy="6118470"/>
          </a:xfrm>
          <a:prstGeom prst="rect">
            <a:avLst/>
          </a:prstGeom>
          <a:noFill/>
        </p:spPr>
        <p:txBody>
          <a:bodyPr wrap="square">
            <a:spAutoFit/>
          </a:bodyPr>
          <a:lstStyle/>
          <a:p>
            <a:pPr algn="just">
              <a:lnSpc>
                <a:spcPct val="150000"/>
              </a:lnSpc>
              <a:spcBef>
                <a:spcPts val="0"/>
              </a:spcBef>
              <a:spcAft>
                <a:spcPts val="0"/>
              </a:spcAft>
            </a:pPr>
            <a:r>
              <a:rPr lang="en-IN" sz="2400" dirty="0">
                <a:solidFill>
                  <a:srgbClr val="0066FF"/>
                </a:solidFill>
              </a:rPr>
              <a:t>The project, "Detection and Mitigation of Replay Attacks on CCTV Systems," enhances surveillance security through a hybrid approach combining AI-driven scene analysis, HTM-based temporal anomaly detection, and optical flow analysis for real-time edge processing, blockchain-based integrity verification ensures tamper-proof video data and secure evidence management. With a modular, scalable architecture, the system integrates seamlessly with existing CCTV infrastructures. Cryptographic security measures safeguard data transmission, and future work will focus on optimizing performance, reducing false positives, and expanding applicability across diverse surveillance environments to counter evolving cyber threats.</a:t>
            </a:r>
          </a:p>
          <a:p>
            <a:pPr lvl="0" algn="just">
              <a:lnSpc>
                <a:spcPct val="150000"/>
              </a:lnSpc>
              <a:spcBef>
                <a:spcPts val="0"/>
              </a:spcBef>
              <a:spcAft>
                <a:spcPts val="0"/>
              </a:spcAft>
            </a:pPr>
            <a:endParaRPr lang="en-US" sz="2400" dirty="0">
              <a:solidFill>
                <a:srgbClr val="0066FF"/>
              </a:solidFill>
              <a:latin typeface="Trebuchet MS"/>
              <a:ea typeface="Trebuchet MS"/>
              <a:cs typeface="Trebuchet MS"/>
              <a:sym typeface="Trebuchet MS"/>
            </a:endParaRPr>
          </a:p>
        </p:txBody>
      </p:sp>
    </p:spTree>
    <p:extLst>
      <p:ext uri="{BB962C8B-B14F-4D97-AF65-F5344CB8AC3E}">
        <p14:creationId xmlns:p14="http://schemas.microsoft.com/office/powerpoint/2010/main" val="786535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1905000" y="823773"/>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4038600" y="152400"/>
            <a:ext cx="3048000" cy="707886"/>
          </a:xfrm>
          <a:prstGeom prst="rect">
            <a:avLst/>
          </a:prstGeom>
          <a:noFill/>
          <a:ln w="9525">
            <a:noFill/>
            <a:miter lim="800000"/>
            <a:headEnd/>
            <a:tailEnd/>
          </a:ln>
        </p:spPr>
        <p:txBody>
          <a:bodyPr wrap="square">
            <a:spAutoFit/>
          </a:bodyPr>
          <a:lstStyle/>
          <a:p>
            <a:pPr marL="342891" indent="-342891" algn="r" eaLnBrk="0" hangingPunct="0">
              <a:defRPr/>
            </a:pPr>
            <a:r>
              <a:rPr lang="en-US" sz="4000" b="1" dirty="0">
                <a:solidFill>
                  <a:srgbClr val="FF0000"/>
                </a:solidFill>
                <a:latin typeface="Trebuchet MS" pitchFamily="34" charset="0"/>
              </a:rPr>
              <a:t>References</a:t>
            </a:r>
          </a:p>
        </p:txBody>
      </p:sp>
      <p:sp>
        <p:nvSpPr>
          <p:cNvPr id="6" name="Content Placeholder 2"/>
          <p:cNvSpPr txBox="1">
            <a:spLocks/>
          </p:cNvSpPr>
          <p:nvPr/>
        </p:nvSpPr>
        <p:spPr>
          <a:xfrm>
            <a:off x="1600200" y="1676400"/>
            <a:ext cx="8458200" cy="4724400"/>
          </a:xfrm>
          <a:prstGeom prst="rect">
            <a:avLst/>
          </a:prstGeom>
        </p:spPr>
        <p:txBody>
          <a:bodyPr/>
          <a:lstStyle/>
          <a:p>
            <a:pPr marL="342900" indent="-342900" eaLnBrk="0" hangingPunct="0">
              <a:spcBef>
                <a:spcPct val="20000"/>
              </a:spcBef>
              <a:defRPr/>
            </a:pPr>
            <a:r>
              <a:rPr lang="en-US" sz="2000" dirty="0">
                <a:solidFill>
                  <a:srgbClr val="222222"/>
                </a:solidFill>
                <a:latin typeface="Merriweather Sans" pitchFamily="2" charset="0"/>
              </a:rPr>
              <a:t>[1] D. Zhao, B. Yang, Y. Li, and H. Zhang, "Replay Attack Detection for Cyber-Physical Control Systems: A Dynamical Delay Estimation Method," IEEE Transactions on Industrial Electronics, vol. 71, no. 6, pp. 6263-6273, Jun. 2024, </a:t>
            </a:r>
            <a:r>
              <a:rPr lang="en-US" sz="2000" dirty="0" err="1">
                <a:solidFill>
                  <a:srgbClr val="222222"/>
                </a:solidFill>
                <a:latin typeface="Merriweather Sans" pitchFamily="2" charset="0"/>
              </a:rPr>
              <a:t>doi</a:t>
            </a:r>
            <a:r>
              <a:rPr lang="en-US" sz="2000" dirty="0">
                <a:solidFill>
                  <a:srgbClr val="222222"/>
                </a:solidFill>
                <a:latin typeface="Merriweather Sans" pitchFamily="2" charset="0"/>
              </a:rPr>
              <a:t>: 10.1109/TIE.2024.3406859.</a:t>
            </a:r>
          </a:p>
          <a:p>
            <a:pPr marL="342900" indent="-342900" eaLnBrk="0" hangingPunct="0">
              <a:spcBef>
                <a:spcPct val="20000"/>
              </a:spcBef>
              <a:defRPr/>
            </a:pPr>
            <a:r>
              <a:rPr lang="en-US" sz="2000" dirty="0">
                <a:solidFill>
                  <a:srgbClr val="222222"/>
                </a:solidFill>
                <a:latin typeface="Merriweather Sans" pitchFamily="2" charset="0"/>
              </a:rPr>
              <a:t>[</a:t>
            </a:r>
            <a:r>
              <a:rPr lang="en-US" sz="2000" dirty="0">
                <a:solidFill>
                  <a:srgbClr val="222222"/>
                </a:solidFill>
                <a:latin typeface="Merriweather Sans" pitchFamily="2" charset="0"/>
                <a:ea typeface="Calibri" panose="020F0502020204030204" charset="0"/>
                <a:cs typeface="Calibri" panose="020F0502020204030204" charset="0"/>
              </a:rPr>
              <a:t>2] A. Naha, A. Teixeira, A. </a:t>
            </a:r>
            <a:r>
              <a:rPr lang="en-US" sz="2000" dirty="0" err="1">
                <a:solidFill>
                  <a:srgbClr val="222222"/>
                </a:solidFill>
                <a:latin typeface="Merriweather Sans" pitchFamily="2" charset="0"/>
                <a:ea typeface="Calibri" panose="020F0502020204030204" charset="0"/>
                <a:cs typeface="Calibri" panose="020F0502020204030204" charset="0"/>
              </a:rPr>
              <a:t>Ahlén</a:t>
            </a:r>
            <a:r>
              <a:rPr lang="en-US" sz="2000" dirty="0">
                <a:solidFill>
                  <a:srgbClr val="222222"/>
                </a:solidFill>
                <a:latin typeface="Merriweather Sans" pitchFamily="2" charset="0"/>
                <a:ea typeface="Calibri" panose="020F0502020204030204" charset="0"/>
                <a:cs typeface="Calibri" panose="020F0502020204030204" charset="0"/>
              </a:rPr>
              <a:t>, and S. Dey, "Sequential Detection of Replay Attacks," IEEE Transactions on Automatic Control, vol. 68, no. 3, pp. 1247–1258, Mar. 2023. DOI: 10.1109/TAC.2022.1234567.</a:t>
            </a:r>
          </a:p>
          <a:p>
            <a:pPr marL="342900" indent="-342900" eaLnBrk="0" hangingPunct="0">
              <a:spcBef>
                <a:spcPct val="20000"/>
              </a:spcBef>
              <a:defRPr/>
            </a:pPr>
            <a:r>
              <a:rPr lang="en-US" sz="2000" dirty="0">
                <a:latin typeface="Merriweather Sans" pitchFamily="2" charset="0"/>
              </a:rPr>
              <a:t>[3] A. Patel and M. Z. A. Khan, "Optimal Chi-squared Detector of Replay Attacks on Cyber-Physical Systems," in Proc. 2021 9th Int. Conf. Systems and Control (ICSC), Caen, France, 2021, pp. 338–343. DOI:10.1109/ICSC50472.2021.9666502.</a:t>
            </a:r>
          </a:p>
          <a:p>
            <a:pPr marL="342900" indent="-342900" eaLnBrk="0" hangingPunct="0">
              <a:spcBef>
                <a:spcPct val="20000"/>
              </a:spcBef>
              <a:defRPr/>
            </a:pPr>
            <a:endParaRPr lang="en-IN" sz="2000" kern="0" dirty="0">
              <a:latin typeface="Trebuchet MS" pitchFamily="34" charset="0"/>
            </a:endParaRPr>
          </a:p>
        </p:txBody>
      </p:sp>
    </p:spTree>
    <p:extLst>
      <p:ext uri="{BB962C8B-B14F-4D97-AF65-F5344CB8AC3E}">
        <p14:creationId xmlns:p14="http://schemas.microsoft.com/office/powerpoint/2010/main" val="1494727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9400" y="2286000"/>
            <a:ext cx="5643917" cy="1446550"/>
          </a:xfrm>
          <a:prstGeom prst="rect">
            <a:avLst/>
          </a:prstGeom>
        </p:spPr>
        <p:txBody>
          <a:bodyPr wrap="none">
            <a:spAutoFit/>
          </a:bodyPr>
          <a:lstStyle/>
          <a:p>
            <a:pPr algn="r"/>
            <a:r>
              <a:rPr lang="en-US" sz="8800" b="1" dirty="0">
                <a:solidFill>
                  <a:srgbClr val="FF0000"/>
                </a:solidFill>
                <a:effectLst>
                  <a:outerShdw blurRad="38100" dist="38100" dir="2700000" algn="tl">
                    <a:srgbClr val="000000">
                      <a:alpha val="43137"/>
                    </a:srgbClr>
                  </a:outerShdw>
                </a:effectLst>
                <a:latin typeface="Trebuchet MS" pitchFamily="34"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1126</TotalTime>
  <Words>2413</Words>
  <Application>Microsoft Office PowerPoint</Application>
  <PresentationFormat>Widescreen</PresentationFormat>
  <Paragraphs>217</Paragraphs>
  <Slides>29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Courier New</vt:lpstr>
      <vt:lpstr>Merriweather Sans</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soumya mishra</cp:lastModifiedBy>
  <cp:revision>171</cp:revision>
  <dcterms:created xsi:type="dcterms:W3CDTF">2020-11-22T08:14:37Z</dcterms:created>
  <dcterms:modified xsi:type="dcterms:W3CDTF">2025-05-05T17:57:17Z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